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6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50AF518F-64CD-446C-B9BC-079DAFE8A5E5}"/>
              </a:ext>
            </a:extLst>
          </p:cNvPr>
          <p:cNvSpPr>
            <a:spLocks noGrp="1"/>
          </p:cNvSpPr>
          <p:nvPr/>
        </p:nvSpPr>
        <p:spPr>
          <a:xfrm>
            <a:off x="10858500" y="6419850"/>
            <a:ext cx="666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85714"/>
          </a:bodyPr>
          <a:lstStyle/>
          <a:p>
            <a:pPr>
              <a:defRPr sz="1050" b="0" i="0">
                <a:solidFill>
                  <a:srgbClr val="D5C4A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D5C4A0"/>
                </a:solidFill>
                <a:latin typeface="Arial"/>
                <a:ea typeface="Arial"/>
                <a:cs typeface="Arial"/>
              </a:rPr>
              <a:t>1 / 13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4F4288CE-F7D0-44F3-BDC0-6765B12F8D1B}"/>
              </a:ext>
            </a:extLst>
          </p:cNvPr>
          <p:cNvSpPr>
            <a:spLocks noGrp="1"/>
          </p:cNvSpPr>
          <p:nvPr/>
        </p:nvSpPr>
        <p:spPr>
          <a:xfrm>
            <a:off x="666750" y="876300"/>
            <a:ext cx="85725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>
              <a:defRPr sz="1800" b="1" i="0">
                <a:solidFill>
                  <a:srgbClr val="D6A84D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D6A84D"/>
                </a:solidFill>
                <a:latin typeface="Arial"/>
                <a:ea typeface="Arial"/>
                <a:cs typeface="Arial"/>
              </a:rPr>
              <a:t>PFP COMPANION SYSTEM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2A2441AB-CB9B-4CD9-A0BB-65943B4B6DC7}"/>
              </a:ext>
            </a:extLst>
          </p:cNvPr>
          <p:cNvSpPr>
            <a:spLocks noGrp="1"/>
          </p:cNvSpPr>
          <p:nvPr/>
        </p:nvSpPr>
        <p:spPr>
          <a:xfrm>
            <a:off x="666750" y="1447800"/>
            <a:ext cx="838200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>
              <a:defRPr sz="3750" b="1" i="0">
                <a:solidFill>
                  <a:srgbClr val="FFF7E8"/>
                </a:solidFill>
                <a:latin typeface="Georgia"/>
                <a:ea typeface="Georgia"/>
                <a:cs typeface="Georgia"/>
              </a:defRPr>
            </a:pPr>
            <a:r>
              <a:rPr sz="3750" b="1" i="0" dirty="0">
                <a:solidFill>
                  <a:srgbClr val="FFF7E8"/>
                </a:solidFill>
                <a:latin typeface="Georgia"/>
                <a:ea typeface="Georgia"/>
                <a:cs typeface="Georgia"/>
              </a:rPr>
              <a:t>Enterprise-</a:t>
            </a:r>
            <a:r>
              <a:rPr sz="3750" b="1" i="0" dirty="0" err="1">
                <a:solidFill>
                  <a:srgbClr val="FFF7E8"/>
                </a:solidFill>
                <a:latin typeface="Georgia"/>
                <a:ea typeface="Georgia"/>
                <a:cs typeface="Georgia"/>
              </a:rPr>
              <a:t>приложение</a:t>
            </a:r>
            <a:r>
              <a:rPr sz="3750" b="1" i="0" dirty="0">
                <a:solidFill>
                  <a:srgbClr val="FFF7E8"/>
                </a:solidFill>
                <a:latin typeface="Georgia"/>
                <a:ea typeface="Georgia"/>
                <a:cs typeface="Georgia"/>
              </a:rPr>
              <a:t> </a:t>
            </a:r>
            <a:r>
              <a:rPr sz="3750" b="1" i="0" dirty="0" err="1">
                <a:solidFill>
                  <a:srgbClr val="FFF7E8"/>
                </a:solidFill>
                <a:latin typeface="Georgia"/>
                <a:ea typeface="Georgia"/>
                <a:cs typeface="Georgia"/>
              </a:rPr>
              <a:t>для</a:t>
            </a:r>
            <a:r>
              <a:rPr sz="3750" b="1" i="0" dirty="0">
                <a:solidFill>
                  <a:srgbClr val="FFF7E8"/>
                </a:solidFill>
                <a:latin typeface="Georgia"/>
                <a:ea typeface="Georgia"/>
                <a:cs typeface="Georgia"/>
              </a:rPr>
              <a:t> </a:t>
            </a:r>
            <a:r>
              <a:rPr sz="3750" b="1" i="0" dirty="0" err="1">
                <a:solidFill>
                  <a:srgbClr val="FFF7E8"/>
                </a:solidFill>
                <a:latin typeface="Georgia"/>
                <a:ea typeface="Georgia"/>
                <a:cs typeface="Georgia"/>
              </a:rPr>
              <a:t>персонажей</a:t>
            </a:r>
            <a:r>
              <a:rPr sz="3750" b="1" i="0" dirty="0">
                <a:solidFill>
                  <a:srgbClr val="FFF7E8"/>
                </a:solidFill>
                <a:latin typeface="Georgia"/>
                <a:ea typeface="Georgia"/>
                <a:cs typeface="Georgia"/>
              </a:rPr>
              <a:t> </a:t>
            </a:r>
            <a:r>
              <a:rPr sz="3750" b="1" i="0" dirty="0" err="1">
                <a:solidFill>
                  <a:srgbClr val="FFF7E8"/>
                </a:solidFill>
                <a:latin typeface="Georgia"/>
                <a:ea typeface="Georgia"/>
                <a:cs typeface="Georgia"/>
              </a:rPr>
              <a:t>PfP</a:t>
            </a:r>
            <a:endParaRPr sz="3750" b="1" i="0" dirty="0">
              <a:solidFill>
                <a:srgbClr val="FFF7E8"/>
              </a:solidFill>
              <a:latin typeface="Georgia"/>
              <a:ea typeface="Georgia"/>
              <a:cs typeface="Georgia"/>
            </a:endParaRP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15888F2C-28CB-41C4-A723-4DBC8FFB6785}"/>
              </a:ext>
            </a:extLst>
          </p:cNvPr>
          <p:cNvSpPr>
            <a:spLocks noGrp="1"/>
          </p:cNvSpPr>
          <p:nvPr/>
        </p:nvSpPr>
        <p:spPr>
          <a:xfrm>
            <a:off x="666750" y="2876550"/>
            <a:ext cx="60960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>
              <a:defRPr sz="1950" b="0" i="0">
                <a:solidFill>
                  <a:srgbClr val="D5C4A0"/>
                </a:solidFill>
                <a:latin typeface="Georgia"/>
                <a:ea typeface="Georgia"/>
                <a:cs typeface="Georgia"/>
              </a:defRPr>
            </a:pPr>
            <a:r>
              <a:rPr lang="en-US" sz="2000" b="0" i="0" dirty="0">
                <a:solidFill>
                  <a:srgbClr val="D5C4A0"/>
                </a:solidFill>
                <a:latin typeface="Georgia"/>
                <a:ea typeface="Georgia"/>
                <a:cs typeface="Georgia"/>
              </a:rPr>
              <a:t>Web + Desktop + Backend API</a:t>
            </a:r>
            <a:endParaRPr lang="ru-RU" sz="2000" b="0" i="0" dirty="0">
              <a:solidFill>
                <a:srgbClr val="D5C4A0"/>
              </a:solidFill>
              <a:latin typeface="Georgia"/>
              <a:ea typeface="Georgia"/>
              <a:cs typeface="Georgia"/>
            </a:endParaRPr>
          </a:p>
          <a:p>
            <a:pPr>
              <a:defRPr sz="1950" b="0" i="0">
                <a:solidFill>
                  <a:srgbClr val="D5C4A0"/>
                </a:solidFill>
                <a:latin typeface="Georgia"/>
                <a:ea typeface="Georgia"/>
                <a:cs typeface="Georgia"/>
              </a:defRPr>
            </a:pPr>
            <a:r>
              <a:rPr sz="2000" b="0" i="0" dirty="0">
                <a:solidFill>
                  <a:srgbClr val="D5C4A0"/>
                </a:solidFill>
                <a:latin typeface="Georgia"/>
                <a:ea typeface="Georgia"/>
                <a:cs typeface="Georgia"/>
              </a:rPr>
              <a:t>Pain for Pleasure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CE5146E0-51F7-45AA-91C2-883921646244}"/>
              </a:ext>
            </a:extLst>
          </p:cNvPr>
          <p:cNvSpPr>
            <a:spLocks noGrp="1"/>
          </p:cNvSpPr>
          <p:nvPr/>
        </p:nvSpPr>
        <p:spPr>
          <a:xfrm>
            <a:off x="666750" y="3714750"/>
            <a:ext cx="3143250" cy="2381250"/>
          </a:xfrm>
          <a:prstGeom prst="rect">
            <a:avLst/>
          </a:prstGeom>
          <a:solidFill>
            <a:srgbClr val="11100C"/>
          </a:solidFill>
          <a:ln w="9525">
            <a:solidFill>
              <a:srgbClr val="5A4522"/>
            </a:solidFill>
            <a:prstDash val="solid"/>
          </a:ln>
        </p:spPr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A7F6517B-8BC5-4376-BE3C-ED82C7396507}"/>
              </a:ext>
            </a:extLst>
          </p:cNvPr>
          <p:cNvSpPr>
            <a:spLocks noGrp="1"/>
          </p:cNvSpPr>
          <p:nvPr/>
        </p:nvSpPr>
        <p:spPr>
          <a:xfrm>
            <a:off x="952500" y="4048125"/>
            <a:ext cx="2667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92024" lnSpcReduction="10000"/>
          </a:bodyPr>
          <a:lstStyle/>
          <a:p>
            <a:pPr>
              <a:defRPr sz="2100" b="1" i="0">
                <a:solidFill>
                  <a:srgbClr val="FFF7E8"/>
                </a:solidFill>
                <a:latin typeface="Georgia"/>
                <a:ea typeface="Georgia"/>
                <a:cs typeface="Georgia"/>
              </a:defRPr>
            </a:pPr>
            <a:r>
              <a:rPr sz="2100" b="1" i="0">
                <a:solidFill>
                  <a:srgbClr val="FFF7E8"/>
                </a:solidFill>
                <a:latin typeface="Georgia"/>
                <a:ea typeface="Georgia"/>
                <a:cs typeface="Georgia"/>
              </a:rPr>
              <a:t>MVP+ результат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EEA51484-C7CB-4546-ACBC-0274AC85E183}"/>
              </a:ext>
            </a:extLst>
          </p:cNvPr>
          <p:cNvSpPr>
            <a:spLocks noGrp="1"/>
          </p:cNvSpPr>
          <p:nvPr/>
        </p:nvSpPr>
        <p:spPr>
          <a:xfrm>
            <a:off x="952500" y="4572000"/>
            <a:ext cx="2476500" cy="1238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>
              <a:defRPr sz="1350" b="0" i="0">
                <a:solidFill>
                  <a:srgbClr val="FFF7E8"/>
                </a:solidFill>
                <a:latin typeface="Arial"/>
                <a:ea typeface="Arial"/>
                <a:cs typeface="Arial"/>
              </a:defRPr>
            </a:pPr>
            <a:r>
              <a:rPr sz="1350" b="0" i="0" dirty="0">
                <a:solidFill>
                  <a:srgbClr val="FFF7E8"/>
                </a:solidFill>
                <a:latin typeface="Arial"/>
                <a:ea typeface="Arial"/>
                <a:cs typeface="Arial"/>
              </a:rPr>
              <a:t>• </a:t>
            </a:r>
            <a:r>
              <a:rPr sz="1350" b="0" i="0" dirty="0" err="1">
                <a:solidFill>
                  <a:srgbClr val="FFF7E8"/>
                </a:solidFill>
                <a:latin typeface="Arial"/>
                <a:ea typeface="Arial"/>
                <a:cs typeface="Arial"/>
              </a:rPr>
              <a:t>синхронизация</a:t>
            </a:r>
            <a:r>
              <a:rPr sz="1350" b="0" i="0" dirty="0">
                <a:solidFill>
                  <a:srgbClr val="FFF7E8"/>
                </a:solidFill>
                <a:latin typeface="Arial"/>
                <a:ea typeface="Arial"/>
                <a:cs typeface="Arial"/>
              </a:rPr>
              <a:t> web и desktop</a:t>
            </a:r>
          </a:p>
          <a:p>
            <a:pPr>
              <a:defRPr sz="1350" b="0" i="0">
                <a:solidFill>
                  <a:srgbClr val="FFF7E8"/>
                </a:solidFill>
                <a:latin typeface="Arial"/>
                <a:ea typeface="Arial"/>
                <a:cs typeface="Arial"/>
              </a:defRPr>
            </a:pPr>
            <a:r>
              <a:rPr sz="1350" b="0" i="0" dirty="0">
                <a:solidFill>
                  <a:srgbClr val="FFF7E8"/>
                </a:solidFill>
                <a:latin typeface="Arial"/>
                <a:ea typeface="Arial"/>
                <a:cs typeface="Arial"/>
              </a:rPr>
              <a:t>• </a:t>
            </a:r>
            <a:r>
              <a:rPr sz="1350" b="0" i="0" dirty="0" err="1">
                <a:solidFill>
                  <a:srgbClr val="FFF7E8"/>
                </a:solidFill>
                <a:latin typeface="Arial"/>
                <a:ea typeface="Arial"/>
                <a:cs typeface="Arial"/>
              </a:rPr>
              <a:t>локальный</a:t>
            </a:r>
            <a:r>
              <a:rPr sz="1350" b="0" i="0" dirty="0">
                <a:solidFill>
                  <a:srgbClr val="FFF7E8"/>
                </a:solidFill>
                <a:latin typeface="Arial"/>
                <a:ea typeface="Arial"/>
                <a:cs typeface="Arial"/>
              </a:rPr>
              <a:t> guest-</a:t>
            </a:r>
            <a:r>
              <a:rPr sz="1350" b="0" i="0" dirty="0" err="1">
                <a:solidFill>
                  <a:srgbClr val="FFF7E8"/>
                </a:solidFill>
                <a:latin typeface="Arial"/>
                <a:ea typeface="Arial"/>
                <a:cs typeface="Arial"/>
              </a:rPr>
              <a:t>режим</a:t>
            </a:r>
            <a:endParaRPr sz="1350" b="0" i="0" dirty="0">
              <a:solidFill>
                <a:srgbClr val="FFF7E8"/>
              </a:solidFill>
              <a:latin typeface="Arial"/>
              <a:ea typeface="Arial"/>
              <a:cs typeface="Arial"/>
            </a:endParaRPr>
          </a:p>
          <a:p>
            <a:pPr>
              <a:defRPr sz="1350" b="0" i="0">
                <a:solidFill>
                  <a:srgbClr val="FFF7E8"/>
                </a:solidFill>
                <a:latin typeface="Arial"/>
                <a:ea typeface="Arial"/>
                <a:cs typeface="Arial"/>
              </a:defRPr>
            </a:pPr>
            <a:r>
              <a:rPr sz="1350" b="0" i="0" dirty="0">
                <a:solidFill>
                  <a:srgbClr val="FFF7E8"/>
                </a:solidFill>
                <a:latin typeface="Arial"/>
                <a:ea typeface="Arial"/>
                <a:cs typeface="Arial"/>
              </a:rPr>
              <a:t>• </a:t>
            </a:r>
            <a:r>
              <a:rPr sz="1350" b="0" i="0" dirty="0" err="1">
                <a:solidFill>
                  <a:srgbClr val="FFF7E8"/>
                </a:solidFill>
                <a:latin typeface="Arial"/>
                <a:ea typeface="Arial"/>
                <a:cs typeface="Arial"/>
              </a:rPr>
              <a:t>админка</a:t>
            </a:r>
            <a:r>
              <a:rPr sz="1350" b="0" i="0" dirty="0">
                <a:solidFill>
                  <a:srgbClr val="FFF7E8"/>
                </a:solidFill>
                <a:latin typeface="Arial"/>
                <a:ea typeface="Arial"/>
                <a:cs typeface="Arial"/>
              </a:rPr>
              <a:t> и </a:t>
            </a:r>
            <a:r>
              <a:rPr sz="1350" b="0" i="0" dirty="0" err="1">
                <a:solidFill>
                  <a:srgbClr val="FFF7E8"/>
                </a:solidFill>
                <a:latin typeface="Arial"/>
                <a:ea typeface="Arial"/>
                <a:cs typeface="Arial"/>
              </a:rPr>
              <a:t>контент</a:t>
            </a:r>
            <a:endParaRPr sz="1350" b="0" i="0" dirty="0">
              <a:solidFill>
                <a:srgbClr val="FFF7E8"/>
              </a:solidFill>
              <a:latin typeface="Arial"/>
              <a:ea typeface="Arial"/>
              <a:cs typeface="Arial"/>
            </a:endParaRPr>
          </a:p>
          <a:p>
            <a:pPr>
              <a:defRPr sz="1350" b="0" i="0">
                <a:solidFill>
                  <a:srgbClr val="FFF7E8"/>
                </a:solidFill>
                <a:latin typeface="Arial"/>
                <a:ea typeface="Arial"/>
                <a:cs typeface="Arial"/>
              </a:defRPr>
            </a:pPr>
            <a:r>
              <a:rPr sz="1350" b="0" i="0" dirty="0">
                <a:solidFill>
                  <a:srgbClr val="FFF7E8"/>
                </a:solidFill>
                <a:latin typeface="Arial"/>
                <a:ea typeface="Arial"/>
                <a:cs typeface="Arial"/>
              </a:rPr>
              <a:t>• </a:t>
            </a:r>
            <a:r>
              <a:rPr sz="1350" b="0" i="0" dirty="0" err="1">
                <a:solidFill>
                  <a:srgbClr val="FFF7E8"/>
                </a:solidFill>
                <a:latin typeface="Arial"/>
                <a:ea typeface="Arial"/>
                <a:cs typeface="Arial"/>
              </a:rPr>
              <a:t>тесты</a:t>
            </a:r>
            <a:r>
              <a:rPr sz="1350" b="0" i="0" dirty="0">
                <a:solidFill>
                  <a:srgbClr val="FFF7E8"/>
                </a:solidFill>
                <a:latin typeface="Arial"/>
                <a:ea typeface="Arial"/>
                <a:cs typeface="Arial"/>
              </a:rPr>
              <a:t> и </a:t>
            </a:r>
            <a:r>
              <a:rPr sz="1350" b="0" i="0" dirty="0" err="1">
                <a:solidFill>
                  <a:srgbClr val="FFF7E8"/>
                </a:solidFill>
                <a:latin typeface="Arial"/>
                <a:ea typeface="Arial"/>
                <a:cs typeface="Arial"/>
              </a:rPr>
              <a:t>сборка</a:t>
            </a:r>
            <a:endParaRPr sz="1350" b="0" i="0" dirty="0">
              <a:solidFill>
                <a:srgbClr val="FFF7E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E893797-313B-1AC1-8B59-49F6799ED122}"/>
              </a:ext>
            </a:extLst>
          </p:cNvPr>
          <p:cNvSpPr txBox="1"/>
          <p:nvPr/>
        </p:nvSpPr>
        <p:spPr>
          <a:xfrm>
            <a:off x="6762750" y="4843923"/>
            <a:ext cx="6096000" cy="12695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50" b="0" i="0">
                <a:solidFill>
                  <a:srgbClr val="D5C4A0"/>
                </a:solidFill>
                <a:latin typeface="Georgia"/>
                <a:ea typeface="Georgia"/>
                <a:cs typeface="Georgia"/>
              </a:defRPr>
            </a:pPr>
            <a:r>
              <a:rPr lang="ru-RU" dirty="0">
                <a:solidFill>
                  <a:srgbClr val="D5C4A0"/>
                </a:solidFill>
                <a:latin typeface="Georgia"/>
                <a:ea typeface="Georgia"/>
                <a:cs typeface="Georgia"/>
              </a:rPr>
              <a:t>Выполнил</a:t>
            </a:r>
            <a:r>
              <a:rPr lang="en-US" dirty="0">
                <a:solidFill>
                  <a:srgbClr val="D5C4A0"/>
                </a:solidFill>
                <a:latin typeface="Georgia"/>
                <a:ea typeface="Georgia"/>
                <a:cs typeface="Georgia"/>
              </a:rPr>
              <a:t>:</a:t>
            </a:r>
          </a:p>
          <a:p>
            <a:pPr>
              <a:defRPr sz="1950" b="0" i="0">
                <a:solidFill>
                  <a:srgbClr val="D5C4A0"/>
                </a:solidFill>
                <a:latin typeface="Georgia"/>
                <a:ea typeface="Georgia"/>
                <a:cs typeface="Georgia"/>
              </a:defRPr>
            </a:pPr>
            <a:r>
              <a:rPr lang="ru-RU" dirty="0">
                <a:solidFill>
                  <a:srgbClr val="D5C4A0"/>
                </a:solidFill>
                <a:latin typeface="Georgia"/>
                <a:ea typeface="Georgia"/>
                <a:cs typeface="Georgia"/>
              </a:rPr>
              <a:t>Студент 3 курса</a:t>
            </a:r>
          </a:p>
          <a:p>
            <a:pPr>
              <a:defRPr sz="1950" b="0" i="0">
                <a:solidFill>
                  <a:srgbClr val="D5C4A0"/>
                </a:solidFill>
                <a:latin typeface="Georgia"/>
                <a:ea typeface="Georgia"/>
                <a:cs typeface="Georgia"/>
              </a:defRPr>
            </a:pPr>
            <a:r>
              <a:rPr lang="ru-RU" dirty="0">
                <a:solidFill>
                  <a:srgbClr val="D5C4A0"/>
                </a:solidFill>
                <a:latin typeface="Georgia"/>
                <a:ea typeface="Georgia"/>
                <a:cs typeface="Georgia"/>
              </a:rPr>
              <a:t>Группы ПИЖ-б-о-23-1</a:t>
            </a:r>
          </a:p>
          <a:p>
            <a:pPr>
              <a:defRPr sz="1950" b="0" i="0">
                <a:solidFill>
                  <a:srgbClr val="D5C4A0"/>
                </a:solidFill>
                <a:latin typeface="Georgia"/>
                <a:ea typeface="Georgia"/>
                <a:cs typeface="Georgia"/>
              </a:defRPr>
            </a:pPr>
            <a:r>
              <a:rPr lang="ru-RU" sz="1800" b="0" i="0" dirty="0" err="1">
                <a:solidFill>
                  <a:srgbClr val="D5C4A0"/>
                </a:solidFill>
                <a:latin typeface="Georgia"/>
                <a:ea typeface="Georgia"/>
                <a:cs typeface="Georgia"/>
              </a:rPr>
              <a:t>Панчешный</a:t>
            </a:r>
            <a:r>
              <a:rPr lang="ru-RU" sz="1800" b="0" i="0" dirty="0">
                <a:solidFill>
                  <a:srgbClr val="D5C4A0"/>
                </a:solidFill>
                <a:latin typeface="Georgia"/>
                <a:ea typeface="Georgia"/>
                <a:cs typeface="Georgia"/>
              </a:rPr>
              <a:t> Александр Алексеевич</a:t>
            </a:r>
            <a:endParaRPr lang="en-US" sz="1800" b="0" i="0" dirty="0">
              <a:solidFill>
                <a:srgbClr val="D5C4A0"/>
              </a:solidFill>
              <a:latin typeface="Georgia"/>
              <a:ea typeface="Georgia"/>
              <a:cs typeface="Georgia"/>
            </a:endParaRPr>
          </a:p>
        </p:txBody>
      </p:sp>
    </p:spTree>
    <p:extLst>
      <p:ext uri="{BB962C8B-B14F-4D97-AF65-F5344CB8AC3E}">
        <p14:creationId xmlns:p14="http://schemas.microsoft.com/office/powerpoint/2010/main" val="18988796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6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AAB31DE1-62E8-4240-853C-49BE25CE579C}"/>
              </a:ext>
            </a:extLst>
          </p:cNvPr>
          <p:cNvSpPr>
            <a:spLocks noGrp="1"/>
          </p:cNvSpPr>
          <p:nvPr/>
        </p:nvSpPr>
        <p:spPr>
          <a:xfrm>
            <a:off x="10858500" y="6419850"/>
            <a:ext cx="666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85714"/>
          </a:bodyPr>
          <a:lstStyle/>
          <a:p>
            <a:pPr>
              <a:defRPr sz="1050" b="0" i="0">
                <a:solidFill>
                  <a:srgbClr val="D5C4A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D5C4A0"/>
                </a:solidFill>
                <a:latin typeface="Arial"/>
                <a:ea typeface="Arial"/>
                <a:cs typeface="Arial"/>
              </a:rPr>
              <a:t>2 / 13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3EFC340F-B466-47D4-BE93-23412C29ABB8}"/>
              </a:ext>
            </a:extLst>
          </p:cNvPr>
          <p:cNvSpPr>
            <a:spLocks noGrp="1"/>
          </p:cNvSpPr>
          <p:nvPr/>
        </p:nvSpPr>
        <p:spPr>
          <a:xfrm>
            <a:off x="666750" y="266700"/>
            <a:ext cx="2476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>
              <a:defRPr sz="1200" b="1" i="0">
                <a:solidFill>
                  <a:srgbClr val="D6A84D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D6A84D"/>
                </a:solidFill>
                <a:latin typeface="Arial"/>
                <a:ea typeface="Arial"/>
                <a:cs typeface="Arial"/>
              </a:rPr>
              <a:t>PFP COMPANION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9C462E15-A8FF-418E-A93E-AF7828541182}"/>
              </a:ext>
            </a:extLst>
          </p:cNvPr>
          <p:cNvSpPr>
            <a:spLocks noGrp="1"/>
          </p:cNvSpPr>
          <p:nvPr/>
        </p:nvSpPr>
        <p:spPr>
          <a:xfrm>
            <a:off x="666750" y="742950"/>
            <a:ext cx="74295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>
              <a:defRPr sz="3300" b="1" i="0">
                <a:solidFill>
                  <a:srgbClr val="FFF7E8"/>
                </a:solidFill>
                <a:latin typeface="Georgia"/>
                <a:ea typeface="Georgia"/>
                <a:cs typeface="Georgia"/>
              </a:defRPr>
            </a:pPr>
            <a:r>
              <a:rPr sz="3300" b="1" i="0">
                <a:solidFill>
                  <a:srgbClr val="FFF7E8"/>
                </a:solidFill>
                <a:latin typeface="Georgia"/>
                <a:ea typeface="Georgia"/>
                <a:cs typeface="Georgia"/>
              </a:rPr>
              <a:t>Проблема и цель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1C322F03-96DA-4192-80EE-3ABD111E27F9}"/>
              </a:ext>
            </a:extLst>
          </p:cNvPr>
          <p:cNvSpPr>
            <a:spLocks noGrp="1"/>
          </p:cNvSpPr>
          <p:nvPr/>
        </p:nvSpPr>
        <p:spPr>
          <a:xfrm>
            <a:off x="666750" y="1390650"/>
            <a:ext cx="8096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>
              <a:defRPr sz="1650" b="0" i="0">
                <a:solidFill>
                  <a:srgbClr val="D5C4A0"/>
                </a:solidFill>
                <a:latin typeface="Georgia"/>
                <a:ea typeface="Georgia"/>
                <a:cs typeface="Georgia"/>
              </a:defRPr>
            </a:pPr>
            <a:r>
              <a:rPr sz="1650" b="0" i="0">
                <a:solidFill>
                  <a:srgbClr val="D5C4A0"/>
                </a:solidFill>
                <a:latin typeface="Georgia"/>
                <a:ea typeface="Georgia"/>
                <a:cs typeface="Georgia"/>
              </a:rPr>
              <a:t>Единое рабочее место для собственной НРИ-системы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597C898B-7A5A-461D-88B0-00C152B7CFCC}"/>
              </a:ext>
            </a:extLst>
          </p:cNvPr>
          <p:cNvSpPr>
            <a:spLocks noGrp="1"/>
          </p:cNvSpPr>
          <p:nvPr/>
        </p:nvSpPr>
        <p:spPr>
          <a:xfrm>
            <a:off x="666750" y="1943100"/>
            <a:ext cx="10858500" cy="9525"/>
          </a:xfrm>
          <a:prstGeom prst="rect">
            <a:avLst/>
          </a:prstGeom>
          <a:solidFill>
            <a:srgbClr val="5A4522"/>
          </a:solidFill>
          <a:ln w="0">
            <a:solidFill>
              <a:srgbClr val="5A4522"/>
            </a:solidFill>
            <a:prstDash val="solid"/>
          </a:ln>
        </p:spPr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41A7A8B1-7EEC-40F0-AD1E-9AD0C4B851A6}"/>
              </a:ext>
            </a:extLst>
          </p:cNvPr>
          <p:cNvSpPr>
            <a:spLocks noGrp="1"/>
          </p:cNvSpPr>
          <p:nvPr/>
        </p:nvSpPr>
        <p:spPr>
          <a:xfrm>
            <a:off x="666750" y="2333625"/>
            <a:ext cx="4953000" cy="2857500"/>
          </a:xfrm>
          <a:prstGeom prst="rect">
            <a:avLst/>
          </a:prstGeom>
          <a:solidFill>
            <a:srgbClr val="11100C"/>
          </a:solidFill>
          <a:ln w="9525">
            <a:solidFill>
              <a:srgbClr val="5A4522"/>
            </a:solidFill>
            <a:prstDash val="solid"/>
          </a:ln>
        </p:spPr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F4288044-681C-4569-86D1-2AB66A89D372}"/>
              </a:ext>
            </a:extLst>
          </p:cNvPr>
          <p:cNvSpPr>
            <a:spLocks noGrp="1"/>
          </p:cNvSpPr>
          <p:nvPr/>
        </p:nvSpPr>
        <p:spPr>
          <a:xfrm>
            <a:off x="952500" y="2628900"/>
            <a:ext cx="4381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84444"/>
          </a:bodyPr>
          <a:lstStyle/>
          <a:p>
            <a:pPr>
              <a:defRPr sz="2250" b="1" i="0">
                <a:solidFill>
                  <a:srgbClr val="FFF7E8"/>
                </a:solidFill>
                <a:latin typeface="Georgia"/>
                <a:ea typeface="Georgia"/>
                <a:cs typeface="Georgia"/>
              </a:defRPr>
            </a:pPr>
            <a:r>
              <a:rPr sz="2250" b="1" i="0">
                <a:solidFill>
                  <a:srgbClr val="FFF7E8"/>
                </a:solidFill>
                <a:latin typeface="Georgia"/>
                <a:ea typeface="Georgia"/>
                <a:cs typeface="Georgia"/>
              </a:rPr>
              <a:t>Проблема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04E375BE-C205-42CE-A2D4-84EF483E729A}"/>
              </a:ext>
            </a:extLst>
          </p:cNvPr>
          <p:cNvSpPr>
            <a:spLocks noGrp="1"/>
          </p:cNvSpPr>
          <p:nvPr/>
        </p:nvSpPr>
        <p:spPr>
          <a:xfrm>
            <a:off x="952500" y="3143250"/>
            <a:ext cx="4333875" cy="1619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>
              <a:defRPr sz="1425" b="0" i="0">
                <a:solidFill>
                  <a:srgbClr val="FFF7E8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FFF7E8"/>
                </a:solidFill>
                <a:latin typeface="Arial"/>
                <a:ea typeface="Arial"/>
                <a:cs typeface="Arial"/>
              </a:rPr>
              <a:t>• персонажи, инвентарь и заклинания ведутся разрозненно</a:t>
            </a:r>
          </a:p>
          <a:p>
            <a:pPr>
              <a:defRPr sz="1425" b="0" i="0">
                <a:solidFill>
                  <a:srgbClr val="FFF7E8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FFF7E8"/>
                </a:solidFill>
                <a:latin typeface="Arial"/>
                <a:ea typeface="Arial"/>
                <a:cs typeface="Arial"/>
              </a:rPr>
              <a:t>• JSON нужен для переноса и резервных копий</a:t>
            </a:r>
          </a:p>
          <a:p>
            <a:pPr>
              <a:defRPr sz="1425" b="0" i="0">
                <a:solidFill>
                  <a:srgbClr val="FFF7E8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FFF7E8"/>
                </a:solidFill>
                <a:latin typeface="Arial"/>
                <a:ea typeface="Arial"/>
                <a:cs typeface="Arial"/>
              </a:rPr>
              <a:t>• лору и правилам требуется единый справочник</a:t>
            </a:r>
          </a:p>
          <a:p>
            <a:pPr>
              <a:defRPr sz="1425" b="0" i="0">
                <a:solidFill>
                  <a:srgbClr val="FFF7E8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FFF7E8"/>
                </a:solidFill>
                <a:latin typeface="Arial"/>
                <a:ea typeface="Arial"/>
                <a:cs typeface="Arial"/>
              </a:rPr>
              <a:t>• web и desktop должны видеть одни account-данные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3E5AEC89-0D91-4D4E-8E1A-48D1E3A31D51}"/>
              </a:ext>
            </a:extLst>
          </p:cNvPr>
          <p:cNvSpPr>
            <a:spLocks noGrp="1"/>
          </p:cNvSpPr>
          <p:nvPr/>
        </p:nvSpPr>
        <p:spPr>
          <a:xfrm>
            <a:off x="6286500" y="2333625"/>
            <a:ext cx="4953000" cy="2857500"/>
          </a:xfrm>
          <a:prstGeom prst="rect">
            <a:avLst/>
          </a:prstGeom>
          <a:solidFill>
            <a:srgbClr val="201D15"/>
          </a:solidFill>
          <a:ln w="9525">
            <a:solidFill>
              <a:srgbClr val="5A4522"/>
            </a:solidFill>
            <a:prstDash val="solid"/>
          </a:ln>
        </p:spPr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E9CA22C3-DDA9-4F34-BA0F-4E0E28EAFAC1}"/>
              </a:ext>
            </a:extLst>
          </p:cNvPr>
          <p:cNvSpPr>
            <a:spLocks noGrp="1"/>
          </p:cNvSpPr>
          <p:nvPr/>
        </p:nvSpPr>
        <p:spPr>
          <a:xfrm>
            <a:off x="6572250" y="2628900"/>
            <a:ext cx="4381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84444"/>
          </a:bodyPr>
          <a:lstStyle/>
          <a:p>
            <a:pPr>
              <a:defRPr sz="2250" b="1" i="0">
                <a:solidFill>
                  <a:srgbClr val="FFF7E8"/>
                </a:solidFill>
                <a:latin typeface="Georgia"/>
                <a:ea typeface="Georgia"/>
                <a:cs typeface="Georgia"/>
              </a:defRPr>
            </a:pPr>
            <a:r>
              <a:rPr sz="2250" b="1" i="0">
                <a:solidFill>
                  <a:srgbClr val="FFF7E8"/>
                </a:solidFill>
                <a:latin typeface="Georgia"/>
                <a:ea typeface="Georgia"/>
                <a:cs typeface="Georgia"/>
              </a:rPr>
              <a:t>Цель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67704BC1-08D6-4D6A-B1E7-C7931B5D47C9}"/>
              </a:ext>
            </a:extLst>
          </p:cNvPr>
          <p:cNvSpPr>
            <a:spLocks noGrp="1"/>
          </p:cNvSpPr>
          <p:nvPr/>
        </p:nvSpPr>
        <p:spPr>
          <a:xfrm>
            <a:off x="6572250" y="3143250"/>
            <a:ext cx="4333875" cy="1619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>
              <a:defRPr sz="1425" b="0" i="0">
                <a:solidFill>
                  <a:srgbClr val="FFF7E8"/>
                </a:solidFill>
                <a:latin typeface="Arial"/>
                <a:ea typeface="Arial"/>
                <a:cs typeface="Arial"/>
              </a:defRPr>
            </a:pPr>
            <a:r>
              <a:rPr sz="1425" b="0" i="0" dirty="0">
                <a:solidFill>
                  <a:srgbClr val="FFF7E8"/>
                </a:solidFill>
                <a:latin typeface="Arial"/>
                <a:ea typeface="Arial"/>
                <a:cs typeface="Arial"/>
              </a:rPr>
              <a:t>• </a:t>
            </a:r>
            <a:r>
              <a:rPr sz="1425" b="0" i="0" dirty="0" err="1">
                <a:solidFill>
                  <a:srgbClr val="FFF7E8"/>
                </a:solidFill>
                <a:latin typeface="Arial"/>
                <a:ea typeface="Arial"/>
                <a:cs typeface="Arial"/>
              </a:rPr>
              <a:t>реализовать</a:t>
            </a:r>
            <a:r>
              <a:rPr sz="1425" b="0" i="0" dirty="0">
                <a:solidFill>
                  <a:srgbClr val="FFF7E8"/>
                </a:solidFill>
                <a:latin typeface="Arial"/>
                <a:ea typeface="Arial"/>
                <a:cs typeface="Arial"/>
              </a:rPr>
              <a:t> web-</a:t>
            </a:r>
            <a:r>
              <a:rPr sz="1425" b="0" i="0" dirty="0" err="1">
                <a:solidFill>
                  <a:srgbClr val="FFF7E8"/>
                </a:solidFill>
                <a:latin typeface="Arial"/>
                <a:ea typeface="Arial"/>
                <a:cs typeface="Arial"/>
              </a:rPr>
              <a:t>клиент</a:t>
            </a:r>
            <a:r>
              <a:rPr sz="1425" b="0" i="0" dirty="0">
                <a:solidFill>
                  <a:srgbClr val="FFF7E8"/>
                </a:solidFill>
                <a:latin typeface="Arial"/>
                <a:ea typeface="Arial"/>
                <a:cs typeface="Arial"/>
              </a:rPr>
              <a:t>, desktop-</a:t>
            </a:r>
            <a:r>
              <a:rPr sz="1425" b="0" i="0" dirty="0" err="1">
                <a:solidFill>
                  <a:srgbClr val="FFF7E8"/>
                </a:solidFill>
                <a:latin typeface="Arial"/>
                <a:ea typeface="Arial"/>
                <a:cs typeface="Arial"/>
              </a:rPr>
              <a:t>клиент</a:t>
            </a:r>
            <a:r>
              <a:rPr sz="1425" b="0" i="0" dirty="0">
                <a:solidFill>
                  <a:srgbClr val="FFF7E8"/>
                </a:solidFill>
                <a:latin typeface="Arial"/>
                <a:ea typeface="Arial"/>
                <a:cs typeface="Arial"/>
              </a:rPr>
              <a:t> и backend</a:t>
            </a:r>
          </a:p>
          <a:p>
            <a:pPr>
              <a:defRPr sz="1425" b="0" i="0">
                <a:solidFill>
                  <a:srgbClr val="FFF7E8"/>
                </a:solidFill>
                <a:latin typeface="Arial"/>
                <a:ea typeface="Arial"/>
                <a:cs typeface="Arial"/>
              </a:defRPr>
            </a:pPr>
            <a:r>
              <a:rPr sz="1425" b="0" i="0" dirty="0">
                <a:solidFill>
                  <a:srgbClr val="FFF7E8"/>
                </a:solidFill>
                <a:latin typeface="Arial"/>
                <a:ea typeface="Arial"/>
                <a:cs typeface="Arial"/>
              </a:rPr>
              <a:t>• </a:t>
            </a:r>
            <a:r>
              <a:rPr sz="1425" b="0" i="0" dirty="0" err="1">
                <a:solidFill>
                  <a:srgbClr val="FFF7E8"/>
                </a:solidFill>
                <a:latin typeface="Arial"/>
                <a:ea typeface="Arial"/>
                <a:cs typeface="Arial"/>
              </a:rPr>
              <a:t>сохранить</a:t>
            </a:r>
            <a:r>
              <a:rPr sz="1425" b="0" i="0" dirty="0">
                <a:solidFill>
                  <a:srgbClr val="FFF7E8"/>
                </a:solidFill>
                <a:latin typeface="Arial"/>
                <a:ea typeface="Arial"/>
                <a:cs typeface="Arial"/>
              </a:rPr>
              <a:t> </a:t>
            </a:r>
            <a:r>
              <a:rPr sz="1425" b="0" i="0" dirty="0" err="1">
                <a:solidFill>
                  <a:srgbClr val="FFF7E8"/>
                </a:solidFill>
                <a:latin typeface="Arial"/>
                <a:ea typeface="Arial"/>
                <a:cs typeface="Arial"/>
              </a:rPr>
              <a:t>игровые</a:t>
            </a:r>
            <a:r>
              <a:rPr sz="1425" b="0" i="0" dirty="0">
                <a:solidFill>
                  <a:srgbClr val="FFF7E8"/>
                </a:solidFill>
                <a:latin typeface="Arial"/>
                <a:ea typeface="Arial"/>
                <a:cs typeface="Arial"/>
              </a:rPr>
              <a:t> </a:t>
            </a:r>
            <a:r>
              <a:rPr sz="1425" b="0" i="0" dirty="0" err="1">
                <a:solidFill>
                  <a:srgbClr val="FFF7E8"/>
                </a:solidFill>
                <a:latin typeface="Arial"/>
                <a:ea typeface="Arial"/>
                <a:cs typeface="Arial"/>
              </a:rPr>
              <a:t>правила</a:t>
            </a:r>
            <a:r>
              <a:rPr sz="1425" b="0" i="0" dirty="0">
                <a:solidFill>
                  <a:srgbClr val="FFF7E8"/>
                </a:solidFill>
                <a:latin typeface="Arial"/>
                <a:ea typeface="Arial"/>
                <a:cs typeface="Arial"/>
              </a:rPr>
              <a:t> </a:t>
            </a:r>
            <a:r>
              <a:rPr sz="1425" b="0" i="0" dirty="0" err="1">
                <a:solidFill>
                  <a:srgbClr val="FFF7E8"/>
                </a:solidFill>
                <a:latin typeface="Arial"/>
                <a:ea typeface="Arial"/>
                <a:cs typeface="Arial"/>
              </a:rPr>
              <a:t>PfP</a:t>
            </a:r>
            <a:r>
              <a:rPr sz="1425" b="0" i="0" dirty="0">
                <a:solidFill>
                  <a:srgbClr val="FFF7E8"/>
                </a:solidFill>
                <a:latin typeface="Arial"/>
                <a:ea typeface="Arial"/>
                <a:cs typeface="Arial"/>
              </a:rPr>
              <a:t> в </a:t>
            </a:r>
            <a:r>
              <a:rPr sz="1425" b="0" i="0" dirty="0" err="1">
                <a:solidFill>
                  <a:srgbClr val="FFF7E8"/>
                </a:solidFill>
                <a:latin typeface="Arial"/>
                <a:ea typeface="Arial"/>
                <a:cs typeface="Arial"/>
              </a:rPr>
              <a:t>листе</a:t>
            </a:r>
            <a:endParaRPr sz="1425" b="0" i="0" dirty="0">
              <a:solidFill>
                <a:srgbClr val="FFF7E8"/>
              </a:solidFill>
              <a:latin typeface="Arial"/>
              <a:ea typeface="Arial"/>
              <a:cs typeface="Arial"/>
            </a:endParaRPr>
          </a:p>
          <a:p>
            <a:pPr>
              <a:defRPr sz="1425" b="0" i="0">
                <a:solidFill>
                  <a:srgbClr val="FFF7E8"/>
                </a:solidFill>
                <a:latin typeface="Arial"/>
                <a:ea typeface="Arial"/>
                <a:cs typeface="Arial"/>
              </a:defRPr>
            </a:pPr>
            <a:r>
              <a:rPr sz="1425" b="0" i="0" dirty="0">
                <a:solidFill>
                  <a:srgbClr val="FFF7E8"/>
                </a:solidFill>
                <a:latin typeface="Arial"/>
                <a:ea typeface="Arial"/>
                <a:cs typeface="Arial"/>
              </a:rPr>
              <a:t>• </a:t>
            </a:r>
            <a:r>
              <a:rPr sz="1425" b="0" i="0" dirty="0" err="1">
                <a:solidFill>
                  <a:srgbClr val="FFF7E8"/>
                </a:solidFill>
                <a:latin typeface="Arial"/>
                <a:ea typeface="Arial"/>
                <a:cs typeface="Arial"/>
              </a:rPr>
              <a:t>дать</a:t>
            </a:r>
            <a:r>
              <a:rPr sz="1425" b="0" i="0" dirty="0">
                <a:solidFill>
                  <a:srgbClr val="FFF7E8"/>
                </a:solidFill>
                <a:latin typeface="Arial"/>
                <a:ea typeface="Arial"/>
                <a:cs typeface="Arial"/>
              </a:rPr>
              <a:t> </a:t>
            </a:r>
            <a:r>
              <a:rPr sz="1425" b="0" i="0" dirty="0" err="1">
                <a:solidFill>
                  <a:srgbClr val="FFF7E8"/>
                </a:solidFill>
                <a:latin typeface="Arial"/>
                <a:ea typeface="Arial"/>
                <a:cs typeface="Arial"/>
              </a:rPr>
              <a:t>админке</a:t>
            </a:r>
            <a:r>
              <a:rPr sz="1425" b="0" i="0" dirty="0">
                <a:solidFill>
                  <a:srgbClr val="FFF7E8"/>
                </a:solidFill>
                <a:latin typeface="Arial"/>
                <a:ea typeface="Arial"/>
                <a:cs typeface="Arial"/>
              </a:rPr>
              <a:t> </a:t>
            </a:r>
            <a:r>
              <a:rPr sz="1425" b="0" i="0" dirty="0" err="1">
                <a:solidFill>
                  <a:srgbClr val="FFF7E8"/>
                </a:solidFill>
                <a:latin typeface="Arial"/>
                <a:ea typeface="Arial"/>
                <a:cs typeface="Arial"/>
              </a:rPr>
              <a:t>управление</a:t>
            </a:r>
            <a:r>
              <a:rPr sz="1425" b="0" i="0" dirty="0">
                <a:solidFill>
                  <a:srgbClr val="FFF7E8"/>
                </a:solidFill>
                <a:latin typeface="Arial"/>
                <a:ea typeface="Arial"/>
                <a:cs typeface="Arial"/>
              </a:rPr>
              <a:t> </a:t>
            </a:r>
            <a:r>
              <a:rPr sz="1425" b="0" i="0" dirty="0" err="1">
                <a:solidFill>
                  <a:srgbClr val="FFF7E8"/>
                </a:solidFill>
                <a:latin typeface="Arial"/>
                <a:ea typeface="Arial"/>
                <a:cs typeface="Arial"/>
              </a:rPr>
              <a:t>контентом</a:t>
            </a:r>
            <a:endParaRPr sz="1425" b="0" i="0" dirty="0">
              <a:solidFill>
                <a:srgbClr val="FFF7E8"/>
              </a:solidFill>
              <a:latin typeface="Arial"/>
              <a:ea typeface="Arial"/>
              <a:cs typeface="Arial"/>
            </a:endParaRPr>
          </a:p>
          <a:p>
            <a:pPr>
              <a:defRPr sz="1425" b="0" i="0">
                <a:solidFill>
                  <a:srgbClr val="FFF7E8"/>
                </a:solidFill>
                <a:latin typeface="Arial"/>
                <a:ea typeface="Arial"/>
                <a:cs typeface="Arial"/>
              </a:defRPr>
            </a:pPr>
            <a:r>
              <a:rPr sz="1425" b="0" i="0" dirty="0">
                <a:solidFill>
                  <a:srgbClr val="FFF7E8"/>
                </a:solidFill>
                <a:latin typeface="Arial"/>
                <a:ea typeface="Arial"/>
                <a:cs typeface="Arial"/>
              </a:rPr>
              <a:t>• </a:t>
            </a:r>
            <a:r>
              <a:rPr sz="1425" b="0" i="0" dirty="0" err="1">
                <a:solidFill>
                  <a:srgbClr val="FFF7E8"/>
                </a:solidFill>
                <a:latin typeface="Arial"/>
                <a:ea typeface="Arial"/>
                <a:cs typeface="Arial"/>
              </a:rPr>
              <a:t>подготовить</a:t>
            </a:r>
            <a:r>
              <a:rPr sz="1425" b="0" i="0" dirty="0">
                <a:solidFill>
                  <a:srgbClr val="FFF7E8"/>
                </a:solidFill>
                <a:latin typeface="Arial"/>
                <a:ea typeface="Arial"/>
                <a:cs typeface="Arial"/>
              </a:rPr>
              <a:t> </a:t>
            </a:r>
            <a:r>
              <a:rPr sz="1425" b="0" i="0" dirty="0" err="1">
                <a:solidFill>
                  <a:srgbClr val="FFF7E8"/>
                </a:solidFill>
                <a:latin typeface="Arial"/>
                <a:ea typeface="Arial"/>
                <a:cs typeface="Arial"/>
              </a:rPr>
              <a:t>проект</a:t>
            </a:r>
            <a:r>
              <a:rPr sz="1425" b="0" i="0" dirty="0">
                <a:solidFill>
                  <a:srgbClr val="FFF7E8"/>
                </a:solidFill>
                <a:latin typeface="Arial"/>
                <a:ea typeface="Arial"/>
                <a:cs typeface="Arial"/>
              </a:rPr>
              <a:t> к </a:t>
            </a:r>
            <a:r>
              <a:rPr sz="1425" b="0" i="0" dirty="0" err="1">
                <a:solidFill>
                  <a:srgbClr val="FFF7E8"/>
                </a:solidFill>
                <a:latin typeface="Arial"/>
                <a:ea typeface="Arial"/>
                <a:cs typeface="Arial"/>
              </a:rPr>
              <a:t>дальнейшему</a:t>
            </a:r>
            <a:r>
              <a:rPr sz="1425" b="0" i="0" dirty="0">
                <a:solidFill>
                  <a:srgbClr val="FFF7E8"/>
                </a:solidFill>
                <a:latin typeface="Arial"/>
                <a:ea typeface="Arial"/>
                <a:cs typeface="Arial"/>
              </a:rPr>
              <a:t> </a:t>
            </a:r>
            <a:r>
              <a:rPr sz="1425" b="0" i="0" dirty="0" err="1">
                <a:solidFill>
                  <a:srgbClr val="FFF7E8"/>
                </a:solidFill>
                <a:latin typeface="Arial"/>
                <a:ea typeface="Arial"/>
                <a:cs typeface="Arial"/>
              </a:rPr>
              <a:t>развитию</a:t>
            </a:r>
            <a:endParaRPr sz="1425" b="0" i="0" dirty="0">
              <a:solidFill>
                <a:srgbClr val="FFF7E8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442731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6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30F589A3-CF94-4E61-8802-F4E3422B2F05}"/>
              </a:ext>
            </a:extLst>
          </p:cNvPr>
          <p:cNvSpPr>
            <a:spLocks noGrp="1"/>
          </p:cNvSpPr>
          <p:nvPr/>
        </p:nvSpPr>
        <p:spPr>
          <a:xfrm>
            <a:off x="10858500" y="6419850"/>
            <a:ext cx="666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85714"/>
          </a:bodyPr>
          <a:lstStyle/>
          <a:p>
            <a:pPr>
              <a:defRPr sz="1050" b="0" i="0">
                <a:solidFill>
                  <a:srgbClr val="D5C4A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D5C4A0"/>
                </a:solidFill>
                <a:latin typeface="Arial"/>
                <a:ea typeface="Arial"/>
                <a:cs typeface="Arial"/>
              </a:rPr>
              <a:t>3 / 13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2975969E-3F2E-4EA3-B87B-3C4E81C9D51C}"/>
              </a:ext>
            </a:extLst>
          </p:cNvPr>
          <p:cNvSpPr>
            <a:spLocks noGrp="1"/>
          </p:cNvSpPr>
          <p:nvPr/>
        </p:nvSpPr>
        <p:spPr>
          <a:xfrm>
            <a:off x="666750" y="266700"/>
            <a:ext cx="2476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>
              <a:defRPr sz="1200" b="1" i="0">
                <a:solidFill>
                  <a:srgbClr val="D6A84D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D6A84D"/>
                </a:solidFill>
                <a:latin typeface="Arial"/>
                <a:ea typeface="Arial"/>
                <a:cs typeface="Arial"/>
              </a:rPr>
              <a:t>PFP COMPANION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8F6BA671-65D6-4A43-84C1-F0B4DD1B973C}"/>
              </a:ext>
            </a:extLst>
          </p:cNvPr>
          <p:cNvSpPr>
            <a:spLocks noGrp="1"/>
          </p:cNvSpPr>
          <p:nvPr/>
        </p:nvSpPr>
        <p:spPr>
          <a:xfrm>
            <a:off x="666750" y="742950"/>
            <a:ext cx="74295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>
              <a:defRPr sz="3300" b="1" i="0">
                <a:solidFill>
                  <a:srgbClr val="FFF7E8"/>
                </a:solidFill>
                <a:latin typeface="Georgia"/>
                <a:ea typeface="Georgia"/>
                <a:cs typeface="Georgia"/>
              </a:defRPr>
            </a:pPr>
            <a:r>
              <a:rPr sz="3300" b="1" i="0">
                <a:solidFill>
                  <a:srgbClr val="FFF7E8"/>
                </a:solidFill>
                <a:latin typeface="Georgia"/>
                <a:ea typeface="Georgia"/>
                <a:cs typeface="Georgia"/>
              </a:rPr>
              <a:t>Пользователи и сценарии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359BE692-F502-4BE5-BBF9-1B277301EC7F}"/>
              </a:ext>
            </a:extLst>
          </p:cNvPr>
          <p:cNvSpPr>
            <a:spLocks noGrp="1"/>
          </p:cNvSpPr>
          <p:nvPr/>
        </p:nvSpPr>
        <p:spPr>
          <a:xfrm>
            <a:off x="666750" y="1390650"/>
            <a:ext cx="8096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>
              <a:defRPr sz="1650" b="0" i="0">
                <a:solidFill>
                  <a:srgbClr val="D5C4A0"/>
                </a:solidFill>
                <a:latin typeface="Georgia"/>
                <a:ea typeface="Georgia"/>
                <a:cs typeface="Georgia"/>
              </a:defRPr>
            </a:pPr>
            <a:r>
              <a:rPr sz="1650" b="0" i="0">
                <a:solidFill>
                  <a:srgbClr val="D5C4A0"/>
                </a:solidFill>
                <a:latin typeface="Georgia"/>
                <a:ea typeface="Georgia"/>
                <a:cs typeface="Georgia"/>
              </a:rPr>
              <a:t>Роли MVP и основные действия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967A406E-F7ED-44F3-8C72-79EF855B8245}"/>
              </a:ext>
            </a:extLst>
          </p:cNvPr>
          <p:cNvSpPr>
            <a:spLocks noGrp="1"/>
          </p:cNvSpPr>
          <p:nvPr/>
        </p:nvSpPr>
        <p:spPr>
          <a:xfrm>
            <a:off x="666750" y="1943100"/>
            <a:ext cx="10858500" cy="9525"/>
          </a:xfrm>
          <a:prstGeom prst="rect">
            <a:avLst/>
          </a:prstGeom>
          <a:solidFill>
            <a:srgbClr val="5A4522"/>
          </a:solidFill>
          <a:ln w="0">
            <a:solidFill>
              <a:srgbClr val="5A4522"/>
            </a:solidFill>
            <a:prstDash val="solid"/>
          </a:ln>
        </p:spPr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40219FB1-35AA-40AD-926E-D1D616202C89}"/>
              </a:ext>
            </a:extLst>
          </p:cNvPr>
          <p:cNvSpPr>
            <a:spLocks noGrp="1"/>
          </p:cNvSpPr>
          <p:nvPr/>
        </p:nvSpPr>
        <p:spPr>
          <a:xfrm>
            <a:off x="666750" y="2571750"/>
            <a:ext cx="3143250" cy="2000250"/>
          </a:xfrm>
          <a:prstGeom prst="rect">
            <a:avLst/>
          </a:prstGeom>
          <a:solidFill>
            <a:srgbClr val="11100C"/>
          </a:solidFill>
          <a:ln w="9525">
            <a:solidFill>
              <a:srgbClr val="5A4522"/>
            </a:solidFill>
            <a:prstDash val="solid"/>
          </a:ln>
        </p:spPr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DF596F36-8C50-4F90-B294-123333E0C33A}"/>
              </a:ext>
            </a:extLst>
          </p:cNvPr>
          <p:cNvSpPr>
            <a:spLocks noGrp="1"/>
          </p:cNvSpPr>
          <p:nvPr/>
        </p:nvSpPr>
        <p:spPr>
          <a:xfrm>
            <a:off x="895350" y="2914650"/>
            <a:ext cx="2667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90476"/>
          </a:bodyPr>
          <a:lstStyle/>
          <a:p>
            <a:pPr>
              <a:defRPr sz="2100" b="1" i="0">
                <a:solidFill>
                  <a:srgbClr val="FFF7E8"/>
                </a:solidFill>
                <a:latin typeface="Georgia"/>
                <a:ea typeface="Georgia"/>
                <a:cs typeface="Georgia"/>
              </a:defRPr>
            </a:pPr>
            <a:r>
              <a:rPr sz="2100" b="1" i="0">
                <a:solidFill>
                  <a:srgbClr val="FFF7E8"/>
                </a:solidFill>
                <a:latin typeface="Georgia"/>
                <a:ea typeface="Georgia"/>
                <a:cs typeface="Georgia"/>
              </a:rPr>
              <a:t>Гость desktop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ED11853B-C426-49B5-9312-BF554BBCD7F4}"/>
              </a:ext>
            </a:extLst>
          </p:cNvPr>
          <p:cNvSpPr>
            <a:spLocks noGrp="1"/>
          </p:cNvSpPr>
          <p:nvPr/>
        </p:nvSpPr>
        <p:spPr>
          <a:xfrm>
            <a:off x="895350" y="3486150"/>
            <a:ext cx="26670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>
              <a:defRPr sz="1350" b="0" i="0">
                <a:solidFill>
                  <a:srgbClr val="D5C4A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D5C4A0"/>
                </a:solidFill>
                <a:latin typeface="Arial"/>
                <a:ea typeface="Arial"/>
                <a:cs typeface="Arial"/>
              </a:rPr>
              <a:t>До 30 локальных персонажей, импорт/экспорт JSON, встроенный справочник.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27FF5F39-5731-4908-BA67-4ECD4B1A192B}"/>
              </a:ext>
            </a:extLst>
          </p:cNvPr>
          <p:cNvSpPr>
            <a:spLocks noGrp="1"/>
          </p:cNvSpPr>
          <p:nvPr/>
        </p:nvSpPr>
        <p:spPr>
          <a:xfrm>
            <a:off x="4210050" y="2571750"/>
            <a:ext cx="3143250" cy="2000250"/>
          </a:xfrm>
          <a:prstGeom prst="rect">
            <a:avLst/>
          </a:prstGeom>
          <a:solidFill>
            <a:srgbClr val="201D15"/>
          </a:solidFill>
          <a:ln w="9525">
            <a:solidFill>
              <a:srgbClr val="5A4522"/>
            </a:solidFill>
            <a:prstDash val="solid"/>
          </a:ln>
        </p:spPr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8682ED35-54AB-4225-98AE-8C6CF97BA500}"/>
              </a:ext>
            </a:extLst>
          </p:cNvPr>
          <p:cNvSpPr>
            <a:spLocks noGrp="1"/>
          </p:cNvSpPr>
          <p:nvPr/>
        </p:nvSpPr>
        <p:spPr>
          <a:xfrm>
            <a:off x="4438650" y="2914650"/>
            <a:ext cx="2667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90476"/>
          </a:bodyPr>
          <a:lstStyle/>
          <a:p>
            <a:pPr>
              <a:defRPr sz="2100" b="1" i="0">
                <a:solidFill>
                  <a:srgbClr val="FFF7E8"/>
                </a:solidFill>
                <a:latin typeface="Georgia"/>
                <a:ea typeface="Georgia"/>
                <a:cs typeface="Georgia"/>
              </a:defRPr>
            </a:pPr>
            <a:r>
              <a:rPr sz="2100" b="1" i="0">
                <a:solidFill>
                  <a:srgbClr val="FFF7E8"/>
                </a:solidFill>
                <a:latin typeface="Georgia"/>
                <a:ea typeface="Georgia"/>
                <a:cs typeface="Georgia"/>
              </a:rPr>
              <a:t>Пользователь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0331A7AE-C075-4181-97B7-3B200FCD5CD0}"/>
              </a:ext>
            </a:extLst>
          </p:cNvPr>
          <p:cNvSpPr>
            <a:spLocks noGrp="1"/>
          </p:cNvSpPr>
          <p:nvPr/>
        </p:nvSpPr>
        <p:spPr>
          <a:xfrm>
            <a:off x="4438650" y="3486150"/>
            <a:ext cx="26670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>
              <a:defRPr sz="1350" b="0" i="0">
                <a:solidFill>
                  <a:srgbClr val="D5C4A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D5C4A0"/>
                </a:solidFill>
                <a:latin typeface="Arial"/>
                <a:ea typeface="Arial"/>
                <a:cs typeface="Arial"/>
              </a:rPr>
              <a:t>Аккаунт до 100 персонажей, web/desktop sync, Google OAuth2 и email-вход.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ABBC554-69AE-41B7-8FEF-97928A08A42F}"/>
              </a:ext>
            </a:extLst>
          </p:cNvPr>
          <p:cNvSpPr>
            <a:spLocks noGrp="1"/>
          </p:cNvSpPr>
          <p:nvPr/>
        </p:nvSpPr>
        <p:spPr>
          <a:xfrm>
            <a:off x="7753350" y="2571750"/>
            <a:ext cx="3143250" cy="2000250"/>
          </a:xfrm>
          <a:prstGeom prst="rect">
            <a:avLst/>
          </a:prstGeom>
          <a:solidFill>
            <a:srgbClr val="11100C"/>
          </a:solidFill>
          <a:ln w="9525">
            <a:solidFill>
              <a:srgbClr val="5A4522"/>
            </a:solidFill>
            <a:prstDash val="solid"/>
          </a:ln>
        </p:spPr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4BBD4829-73E3-41EE-A896-1E3F41789556}"/>
              </a:ext>
            </a:extLst>
          </p:cNvPr>
          <p:cNvSpPr>
            <a:spLocks noGrp="1"/>
          </p:cNvSpPr>
          <p:nvPr/>
        </p:nvSpPr>
        <p:spPr>
          <a:xfrm>
            <a:off x="7981950" y="2914650"/>
            <a:ext cx="2667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90476"/>
          </a:bodyPr>
          <a:lstStyle/>
          <a:p>
            <a:pPr>
              <a:defRPr sz="2100" b="1" i="0">
                <a:solidFill>
                  <a:srgbClr val="FFF7E8"/>
                </a:solidFill>
                <a:latin typeface="Georgia"/>
                <a:ea typeface="Georgia"/>
                <a:cs typeface="Georgia"/>
              </a:defRPr>
            </a:pPr>
            <a:r>
              <a:rPr sz="2100" b="1" i="0">
                <a:solidFill>
                  <a:srgbClr val="FFF7E8"/>
                </a:solidFill>
                <a:latin typeface="Georgia"/>
                <a:ea typeface="Georgia"/>
                <a:cs typeface="Georgia"/>
              </a:rPr>
              <a:t>Администратор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8EA17094-7450-4C97-8487-8BA46C02C76E}"/>
              </a:ext>
            </a:extLst>
          </p:cNvPr>
          <p:cNvSpPr>
            <a:spLocks noGrp="1"/>
          </p:cNvSpPr>
          <p:nvPr/>
        </p:nvSpPr>
        <p:spPr>
          <a:xfrm>
            <a:off x="7981950" y="3486150"/>
            <a:ext cx="26670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>
              <a:defRPr sz="1350" b="0" i="0">
                <a:solidFill>
                  <a:srgbClr val="D5C4A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D5C4A0"/>
                </a:solidFill>
                <a:latin typeface="Arial"/>
                <a:ea typeface="Arial"/>
                <a:cs typeface="Arial"/>
              </a:rPr>
              <a:t>Пользователи, read-only просмотр персонажей, редактор лора и справочника.</a:t>
            </a:r>
          </a:p>
        </p:txBody>
      </p:sp>
    </p:spTree>
    <p:extLst>
      <p:ext uri="{BB962C8B-B14F-4D97-AF65-F5344CB8AC3E}">
        <p14:creationId xmlns:p14="http://schemas.microsoft.com/office/powerpoint/2010/main" val="5937499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6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663F035A-06C6-4759-B77E-22CAFF04B16E}"/>
              </a:ext>
            </a:extLst>
          </p:cNvPr>
          <p:cNvSpPr>
            <a:spLocks noGrp="1"/>
          </p:cNvSpPr>
          <p:nvPr/>
        </p:nvSpPr>
        <p:spPr>
          <a:xfrm>
            <a:off x="10858500" y="6419850"/>
            <a:ext cx="666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85714"/>
          </a:bodyPr>
          <a:lstStyle/>
          <a:p>
            <a:pPr>
              <a:defRPr sz="1050" b="0" i="0">
                <a:solidFill>
                  <a:srgbClr val="D5C4A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D5C4A0"/>
                </a:solidFill>
                <a:latin typeface="Arial"/>
                <a:ea typeface="Arial"/>
                <a:cs typeface="Arial"/>
              </a:rPr>
              <a:t>4 / 13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9724A01C-B04B-47BB-ACF1-C125FFA79B6A}"/>
              </a:ext>
            </a:extLst>
          </p:cNvPr>
          <p:cNvSpPr>
            <a:spLocks noGrp="1"/>
          </p:cNvSpPr>
          <p:nvPr/>
        </p:nvSpPr>
        <p:spPr>
          <a:xfrm>
            <a:off x="666750" y="266700"/>
            <a:ext cx="2476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>
              <a:defRPr sz="1200" b="1" i="0">
                <a:solidFill>
                  <a:srgbClr val="D6A84D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D6A84D"/>
                </a:solidFill>
                <a:latin typeface="Arial"/>
                <a:ea typeface="Arial"/>
                <a:cs typeface="Arial"/>
              </a:rPr>
              <a:t>PFP COMPANION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BE0CFDF-00C8-4437-8465-0AC99D7ECF2B}"/>
              </a:ext>
            </a:extLst>
          </p:cNvPr>
          <p:cNvSpPr>
            <a:spLocks noGrp="1"/>
          </p:cNvSpPr>
          <p:nvPr/>
        </p:nvSpPr>
        <p:spPr>
          <a:xfrm>
            <a:off x="666750" y="742950"/>
            <a:ext cx="74295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>
              <a:defRPr sz="3300" b="1" i="0">
                <a:solidFill>
                  <a:srgbClr val="FFF7E8"/>
                </a:solidFill>
                <a:latin typeface="Georgia"/>
                <a:ea typeface="Georgia"/>
                <a:cs typeface="Georgia"/>
              </a:defRPr>
            </a:pPr>
            <a:r>
              <a:rPr sz="3300" b="1" i="0">
                <a:solidFill>
                  <a:srgbClr val="FFF7E8"/>
                </a:solidFill>
                <a:latin typeface="Georgia"/>
                <a:ea typeface="Georgia"/>
                <a:cs typeface="Georgia"/>
              </a:rPr>
              <a:t>Архитектура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E64774F9-11A7-46DD-817F-0375461B0D78}"/>
              </a:ext>
            </a:extLst>
          </p:cNvPr>
          <p:cNvSpPr>
            <a:spLocks noGrp="1"/>
          </p:cNvSpPr>
          <p:nvPr/>
        </p:nvSpPr>
        <p:spPr>
          <a:xfrm>
            <a:off x="666750" y="1390650"/>
            <a:ext cx="8096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>
              <a:defRPr sz="1650" b="0" i="0">
                <a:solidFill>
                  <a:srgbClr val="D5C4A0"/>
                </a:solidFill>
                <a:latin typeface="Georgia"/>
                <a:ea typeface="Georgia"/>
                <a:cs typeface="Georgia"/>
              </a:defRPr>
            </a:pPr>
            <a:r>
              <a:rPr sz="1650" b="0" i="0">
                <a:solidFill>
                  <a:srgbClr val="D5C4A0"/>
                </a:solidFill>
                <a:latin typeface="Georgia"/>
                <a:ea typeface="Georgia"/>
                <a:cs typeface="Georgia"/>
              </a:rPr>
              <a:t>PCMEF + несколько клиентских приложений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470D13C8-3C47-4291-B885-476FB2A7573F}"/>
              </a:ext>
            </a:extLst>
          </p:cNvPr>
          <p:cNvSpPr>
            <a:spLocks noGrp="1"/>
          </p:cNvSpPr>
          <p:nvPr/>
        </p:nvSpPr>
        <p:spPr>
          <a:xfrm>
            <a:off x="666750" y="1943100"/>
            <a:ext cx="10858500" cy="9525"/>
          </a:xfrm>
          <a:prstGeom prst="rect">
            <a:avLst/>
          </a:prstGeom>
          <a:solidFill>
            <a:srgbClr val="5A4522"/>
          </a:solidFill>
          <a:ln w="0">
            <a:solidFill>
              <a:srgbClr val="5A4522"/>
            </a:solidFill>
            <a:prstDash val="solid"/>
          </a:ln>
        </p:spPr>
      </p:sp>
      <p:pic>
        <p:nvPicPr>
          <p:cNvPr id="14" name="Рисунок 1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66750" y="2961451"/>
            <a:ext cx="5143500" cy="1887599"/>
          </a:xfrm>
          <a:prstGeom prst="rect">
            <a:avLst/>
          </a:prstGeom>
        </p:spPr>
      </p:pic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62FF44EC-2348-4D7C-8AB9-3911DB8D3759}"/>
              </a:ext>
            </a:extLst>
          </p:cNvPr>
          <p:cNvSpPr>
            <a:spLocks noGrp="1"/>
          </p:cNvSpPr>
          <p:nvPr/>
        </p:nvSpPr>
        <p:spPr>
          <a:xfrm>
            <a:off x="6572250" y="2381250"/>
            <a:ext cx="4381500" cy="2667000"/>
          </a:xfrm>
          <a:prstGeom prst="rect">
            <a:avLst/>
          </a:prstGeom>
          <a:solidFill>
            <a:srgbClr val="11100C"/>
          </a:solidFill>
          <a:ln w="9525">
            <a:solidFill>
              <a:srgbClr val="5A4522"/>
            </a:solidFill>
            <a:prstDash val="solid"/>
          </a:ln>
        </p:spPr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17898621-E072-4C4D-B0EE-61B55F7DD86C}"/>
              </a:ext>
            </a:extLst>
          </p:cNvPr>
          <p:cNvSpPr>
            <a:spLocks noGrp="1"/>
          </p:cNvSpPr>
          <p:nvPr/>
        </p:nvSpPr>
        <p:spPr>
          <a:xfrm>
            <a:off x="6858000" y="2705100"/>
            <a:ext cx="3810000" cy="1762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>
              <a:defRPr sz="1350" b="0" i="0">
                <a:solidFill>
                  <a:srgbClr val="FFF7E8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FFF7E8"/>
                </a:solidFill>
                <a:latin typeface="Arial"/>
                <a:ea typeface="Arial"/>
                <a:cs typeface="Arial"/>
              </a:rPr>
              <a:t>• React web-клиент обращается к REST API</a:t>
            </a:r>
          </a:p>
          <a:p>
            <a:pPr>
              <a:defRPr sz="1350" b="0" i="0">
                <a:solidFill>
                  <a:srgbClr val="FFF7E8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FFF7E8"/>
                </a:solidFill>
                <a:latin typeface="Arial"/>
                <a:ea typeface="Arial"/>
                <a:cs typeface="Arial"/>
              </a:rPr>
              <a:t>• JavaFX desktop работает локально или через API</a:t>
            </a:r>
          </a:p>
          <a:p>
            <a:pPr>
              <a:defRPr sz="1350" b="0" i="0">
                <a:solidFill>
                  <a:srgbClr val="FFF7E8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FFF7E8"/>
                </a:solidFill>
                <a:latin typeface="Arial"/>
                <a:ea typeface="Arial"/>
                <a:cs typeface="Arial"/>
              </a:rPr>
              <a:t>• PostgreSQL хранит account-данные</a:t>
            </a:r>
          </a:p>
          <a:p>
            <a:pPr>
              <a:defRPr sz="1350" b="0" i="0">
                <a:solidFill>
                  <a:srgbClr val="FFF7E8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FFF7E8"/>
                </a:solidFill>
                <a:latin typeface="Arial"/>
                <a:ea typeface="Arial"/>
                <a:cs typeface="Arial"/>
              </a:rPr>
              <a:t>• Mailpit/SMTP закрывает сценарий подтверждения email</a:t>
            </a:r>
          </a:p>
          <a:p>
            <a:pPr>
              <a:defRPr sz="1350" b="0" i="0">
                <a:solidFill>
                  <a:srgbClr val="FFF7E8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FFF7E8"/>
                </a:solidFill>
                <a:latin typeface="Arial"/>
                <a:ea typeface="Arial"/>
                <a:cs typeface="Arial"/>
              </a:rPr>
              <a:t>• PCMEF отделяет UI, контроллеры, сервисы, домен и инфраструктуру</a:t>
            </a:r>
          </a:p>
        </p:txBody>
      </p:sp>
    </p:spTree>
    <p:extLst>
      <p:ext uri="{BB962C8B-B14F-4D97-AF65-F5344CB8AC3E}">
        <p14:creationId xmlns:p14="http://schemas.microsoft.com/office/powerpoint/2010/main" val="15457437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6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B705943B-E2CC-4908-81F2-94A4310617BE}"/>
              </a:ext>
            </a:extLst>
          </p:cNvPr>
          <p:cNvSpPr>
            <a:spLocks noGrp="1"/>
          </p:cNvSpPr>
          <p:nvPr/>
        </p:nvSpPr>
        <p:spPr>
          <a:xfrm>
            <a:off x="10858500" y="6419850"/>
            <a:ext cx="666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85714"/>
          </a:bodyPr>
          <a:lstStyle/>
          <a:p>
            <a:pPr>
              <a:defRPr sz="1050" b="0" i="0">
                <a:solidFill>
                  <a:srgbClr val="D5C4A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D5C4A0"/>
                </a:solidFill>
                <a:latin typeface="Arial"/>
                <a:ea typeface="Arial"/>
                <a:cs typeface="Arial"/>
              </a:rPr>
              <a:t>5 / 13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B6587DA3-9DE1-4B1D-8217-0CBC6F7DCFD8}"/>
              </a:ext>
            </a:extLst>
          </p:cNvPr>
          <p:cNvSpPr>
            <a:spLocks noGrp="1"/>
          </p:cNvSpPr>
          <p:nvPr/>
        </p:nvSpPr>
        <p:spPr>
          <a:xfrm>
            <a:off x="666750" y="266700"/>
            <a:ext cx="2476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>
              <a:defRPr sz="1200" b="1" i="0">
                <a:solidFill>
                  <a:srgbClr val="D6A84D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D6A84D"/>
                </a:solidFill>
                <a:latin typeface="Arial"/>
                <a:ea typeface="Arial"/>
                <a:cs typeface="Arial"/>
              </a:rPr>
              <a:t>PFP COMPANION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05182702-6205-4D8B-9654-40BA08A8F0B5}"/>
              </a:ext>
            </a:extLst>
          </p:cNvPr>
          <p:cNvSpPr>
            <a:spLocks noGrp="1"/>
          </p:cNvSpPr>
          <p:nvPr/>
        </p:nvSpPr>
        <p:spPr>
          <a:xfrm>
            <a:off x="666750" y="742950"/>
            <a:ext cx="74295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>
              <a:defRPr sz="3300" b="1" i="0">
                <a:solidFill>
                  <a:srgbClr val="FFF7E8"/>
                </a:solidFill>
                <a:latin typeface="Georgia"/>
                <a:ea typeface="Georgia"/>
                <a:cs typeface="Georgia"/>
              </a:defRPr>
            </a:pPr>
            <a:r>
              <a:rPr sz="3300" b="1" i="0">
                <a:solidFill>
                  <a:srgbClr val="FFF7E8"/>
                </a:solidFill>
                <a:latin typeface="Georgia"/>
                <a:ea typeface="Georgia"/>
                <a:cs typeface="Georgia"/>
              </a:rPr>
              <a:t>Модель данных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4E9EAB3-8C83-4819-A887-CB9DD62242BC}"/>
              </a:ext>
            </a:extLst>
          </p:cNvPr>
          <p:cNvSpPr>
            <a:spLocks noGrp="1"/>
          </p:cNvSpPr>
          <p:nvPr/>
        </p:nvSpPr>
        <p:spPr>
          <a:xfrm>
            <a:off x="666750" y="1390650"/>
            <a:ext cx="8096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>
              <a:defRPr sz="1650" b="0" i="0">
                <a:solidFill>
                  <a:srgbClr val="D5C4A0"/>
                </a:solidFill>
                <a:latin typeface="Georgia"/>
                <a:ea typeface="Georgia"/>
                <a:cs typeface="Georgia"/>
              </a:defRPr>
            </a:pPr>
            <a:r>
              <a:rPr sz="1650" b="0" i="0">
                <a:solidFill>
                  <a:srgbClr val="D5C4A0"/>
                </a:solidFill>
                <a:latin typeface="Georgia"/>
                <a:ea typeface="Georgia"/>
                <a:cs typeface="Georgia"/>
              </a:rPr>
              <a:t>JPA-сущности и реляционное хранение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C6C56E8-40D2-4AA5-AA20-DEC812B5618E}"/>
              </a:ext>
            </a:extLst>
          </p:cNvPr>
          <p:cNvSpPr>
            <a:spLocks noGrp="1"/>
          </p:cNvSpPr>
          <p:nvPr/>
        </p:nvSpPr>
        <p:spPr>
          <a:xfrm>
            <a:off x="666750" y="1943100"/>
            <a:ext cx="10858500" cy="9525"/>
          </a:xfrm>
          <a:prstGeom prst="rect">
            <a:avLst/>
          </a:prstGeom>
          <a:solidFill>
            <a:srgbClr val="5A4522"/>
          </a:solidFill>
          <a:ln w="0">
            <a:solidFill>
              <a:srgbClr val="5A4522"/>
            </a:solidFill>
            <a:prstDash val="solid"/>
          </a:ln>
        </p:spPr>
      </p:sp>
      <p:pic>
        <p:nvPicPr>
          <p:cNvPr id="19" name="Рисунок 1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66750" y="2564466"/>
            <a:ext cx="5619750" cy="2776818"/>
          </a:xfrm>
          <a:prstGeom prst="rect">
            <a:avLst/>
          </a:prstGeom>
        </p:spPr>
      </p:pic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9BAD5A99-B4FA-49FD-A9CC-FFEF4A139A2D}"/>
              </a:ext>
            </a:extLst>
          </p:cNvPr>
          <p:cNvSpPr>
            <a:spLocks noGrp="1"/>
          </p:cNvSpPr>
          <p:nvPr/>
        </p:nvSpPr>
        <p:spPr>
          <a:xfrm>
            <a:off x="6858000" y="2381250"/>
            <a:ext cx="3429000" cy="1143000"/>
          </a:xfrm>
          <a:prstGeom prst="rect">
            <a:avLst/>
          </a:prstGeom>
          <a:solidFill>
            <a:srgbClr val="11100C"/>
          </a:solidFill>
          <a:ln w="9525">
            <a:solidFill>
              <a:srgbClr val="5A4522"/>
            </a:solidFill>
            <a:prstDash val="solid"/>
          </a:ln>
        </p:spPr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F396DBE7-6E70-4B66-96B8-ACF2F24C1B9E}"/>
              </a:ext>
            </a:extLst>
          </p:cNvPr>
          <p:cNvSpPr>
            <a:spLocks noGrp="1"/>
          </p:cNvSpPr>
          <p:nvPr/>
        </p:nvSpPr>
        <p:spPr>
          <a:xfrm>
            <a:off x="7086600" y="2571750"/>
            <a:ext cx="29718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97619"/>
          </a:bodyPr>
          <a:lstStyle/>
          <a:p>
            <a:pPr>
              <a:defRPr sz="1050" b="1" i="0">
                <a:solidFill>
                  <a:srgbClr val="D6A84D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D6A84D"/>
                </a:solidFill>
                <a:latin typeface="Arial"/>
                <a:ea typeface="Arial"/>
                <a:cs typeface="Arial"/>
              </a:rPr>
              <a:t>ГЛАВНАЯ СУЩНОСТЬ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FB3320F8-084E-4403-8979-25154258C493}"/>
              </a:ext>
            </a:extLst>
          </p:cNvPr>
          <p:cNvSpPr>
            <a:spLocks noGrp="1"/>
          </p:cNvSpPr>
          <p:nvPr/>
        </p:nvSpPr>
        <p:spPr>
          <a:xfrm>
            <a:off x="7086600" y="2876550"/>
            <a:ext cx="29718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94118"/>
          </a:bodyPr>
          <a:lstStyle/>
          <a:p>
            <a:pPr>
              <a:defRPr sz="2550" b="1" i="0">
                <a:solidFill>
                  <a:srgbClr val="FFF7E8"/>
                </a:solidFill>
                <a:latin typeface="Georgia"/>
                <a:ea typeface="Georgia"/>
                <a:cs typeface="Georgia"/>
              </a:defRPr>
            </a:pPr>
            <a:r>
              <a:rPr sz="2550" b="1" i="0">
                <a:solidFill>
                  <a:srgbClr val="FFF7E8"/>
                </a:solidFill>
                <a:latin typeface="Georgia"/>
                <a:ea typeface="Georgia"/>
                <a:cs typeface="Georgia"/>
              </a:rPr>
              <a:t>Character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F8C57015-E53E-441A-BEC3-9D73891C9C07}"/>
              </a:ext>
            </a:extLst>
          </p:cNvPr>
          <p:cNvSpPr>
            <a:spLocks noGrp="1"/>
          </p:cNvSpPr>
          <p:nvPr/>
        </p:nvSpPr>
        <p:spPr>
          <a:xfrm>
            <a:off x="6858000" y="3714750"/>
            <a:ext cx="3429000" cy="1143000"/>
          </a:xfrm>
          <a:prstGeom prst="rect">
            <a:avLst/>
          </a:prstGeom>
          <a:solidFill>
            <a:srgbClr val="11100C"/>
          </a:solidFill>
          <a:ln w="9525">
            <a:solidFill>
              <a:srgbClr val="5A4522"/>
            </a:solidFill>
            <a:prstDash val="solid"/>
          </a:ln>
        </p:spPr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918A2977-4F24-4941-8F01-02511DD5B86F}"/>
              </a:ext>
            </a:extLst>
          </p:cNvPr>
          <p:cNvSpPr>
            <a:spLocks noGrp="1"/>
          </p:cNvSpPr>
          <p:nvPr/>
        </p:nvSpPr>
        <p:spPr>
          <a:xfrm>
            <a:off x="7086600" y="3905250"/>
            <a:ext cx="29718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97619"/>
          </a:bodyPr>
          <a:lstStyle/>
          <a:p>
            <a:pPr>
              <a:defRPr sz="1050" b="1" i="0">
                <a:solidFill>
                  <a:srgbClr val="D6A84D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D6A84D"/>
                </a:solidFill>
                <a:latin typeface="Arial"/>
                <a:ea typeface="Arial"/>
                <a:cs typeface="Arial"/>
              </a:rPr>
              <a:t>ХРАНИЛИЩЕ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DEF8BC35-3123-431D-AB60-D73D084468CB}"/>
              </a:ext>
            </a:extLst>
          </p:cNvPr>
          <p:cNvSpPr>
            <a:spLocks noGrp="1"/>
          </p:cNvSpPr>
          <p:nvPr/>
        </p:nvSpPr>
        <p:spPr>
          <a:xfrm>
            <a:off x="7086600" y="4210050"/>
            <a:ext cx="29718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94118"/>
          </a:bodyPr>
          <a:lstStyle/>
          <a:p>
            <a:pPr>
              <a:defRPr sz="2550" b="1" i="0">
                <a:solidFill>
                  <a:srgbClr val="FFF7E8"/>
                </a:solidFill>
                <a:latin typeface="Georgia"/>
                <a:ea typeface="Georgia"/>
                <a:cs typeface="Georgia"/>
              </a:defRPr>
            </a:pPr>
            <a:r>
              <a:rPr sz="2550" b="1" i="0">
                <a:solidFill>
                  <a:srgbClr val="FFF7E8"/>
                </a:solidFill>
                <a:latin typeface="Georgia"/>
                <a:ea typeface="Georgia"/>
                <a:cs typeface="Georgia"/>
              </a:rPr>
              <a:t>PostgreSQL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FD1E9D03-6CAB-4E5F-B564-49AE008543B0}"/>
              </a:ext>
            </a:extLst>
          </p:cNvPr>
          <p:cNvSpPr>
            <a:spLocks noGrp="1"/>
          </p:cNvSpPr>
          <p:nvPr/>
        </p:nvSpPr>
        <p:spPr>
          <a:xfrm>
            <a:off x="6858000" y="5095875"/>
            <a:ext cx="3619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83786"/>
          </a:bodyPr>
          <a:lstStyle/>
          <a:p>
            <a:pPr>
              <a:defRPr sz="1350" b="0" i="0">
                <a:solidFill>
                  <a:srgbClr val="D5C4A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D5C4A0"/>
                </a:solidFill>
                <a:latin typeface="Arial"/>
                <a:ea typeface="Arial"/>
                <a:cs typeface="Arial"/>
              </a:rPr>
              <a:t>Сущности покрывают персонажа, характеристики, здоровье, инвентарь, экипировку, предметы, заклинания, пользователей и контент справочника.</a:t>
            </a:r>
          </a:p>
        </p:txBody>
      </p:sp>
    </p:spTree>
    <p:extLst>
      <p:ext uri="{BB962C8B-B14F-4D97-AF65-F5344CB8AC3E}">
        <p14:creationId xmlns:p14="http://schemas.microsoft.com/office/powerpoint/2010/main" val="18522002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6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0C713C03-DA13-4463-A86A-1313AAF68443}"/>
              </a:ext>
            </a:extLst>
          </p:cNvPr>
          <p:cNvSpPr>
            <a:spLocks noGrp="1"/>
          </p:cNvSpPr>
          <p:nvPr/>
        </p:nvSpPr>
        <p:spPr>
          <a:xfrm>
            <a:off x="10858500" y="6419850"/>
            <a:ext cx="666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85714"/>
          </a:bodyPr>
          <a:lstStyle/>
          <a:p>
            <a:pPr>
              <a:defRPr sz="1050" b="0" i="0">
                <a:solidFill>
                  <a:srgbClr val="D5C4A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D5C4A0"/>
                </a:solidFill>
                <a:latin typeface="Arial"/>
                <a:ea typeface="Arial"/>
                <a:cs typeface="Arial"/>
              </a:rPr>
              <a:t>6 / 13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63269AF6-551E-41B9-9DFE-BD56F04ED2D7}"/>
              </a:ext>
            </a:extLst>
          </p:cNvPr>
          <p:cNvSpPr>
            <a:spLocks noGrp="1"/>
          </p:cNvSpPr>
          <p:nvPr/>
        </p:nvSpPr>
        <p:spPr>
          <a:xfrm>
            <a:off x="666750" y="266700"/>
            <a:ext cx="2476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>
              <a:defRPr sz="1200" b="1" i="0">
                <a:solidFill>
                  <a:srgbClr val="D6A84D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D6A84D"/>
                </a:solidFill>
                <a:latin typeface="Arial"/>
                <a:ea typeface="Arial"/>
                <a:cs typeface="Arial"/>
              </a:rPr>
              <a:t>PFP COMPANION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7AF62AFC-6F0E-45E3-8D5A-58F82BAD2330}"/>
              </a:ext>
            </a:extLst>
          </p:cNvPr>
          <p:cNvSpPr>
            <a:spLocks noGrp="1"/>
          </p:cNvSpPr>
          <p:nvPr/>
        </p:nvSpPr>
        <p:spPr>
          <a:xfrm>
            <a:off x="666750" y="742950"/>
            <a:ext cx="74295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>
              <a:defRPr sz="3300" b="1" i="0">
                <a:solidFill>
                  <a:srgbClr val="FFF7E8"/>
                </a:solidFill>
                <a:latin typeface="Georgia"/>
                <a:ea typeface="Georgia"/>
                <a:cs typeface="Georgia"/>
              </a:defRPr>
            </a:pPr>
            <a:r>
              <a:rPr sz="3300" b="1" i="0">
                <a:solidFill>
                  <a:srgbClr val="FFF7E8"/>
                </a:solidFill>
                <a:latin typeface="Georgia"/>
                <a:ea typeface="Georgia"/>
                <a:cs typeface="Georgia"/>
              </a:rPr>
              <a:t>Backend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A14E80B3-55F1-434A-98CA-2537139AC63A}"/>
              </a:ext>
            </a:extLst>
          </p:cNvPr>
          <p:cNvSpPr>
            <a:spLocks noGrp="1"/>
          </p:cNvSpPr>
          <p:nvPr/>
        </p:nvSpPr>
        <p:spPr>
          <a:xfrm>
            <a:off x="666750" y="1390650"/>
            <a:ext cx="8096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>
              <a:defRPr sz="1650" b="0" i="0">
                <a:solidFill>
                  <a:srgbClr val="D5C4A0"/>
                </a:solidFill>
                <a:latin typeface="Georgia"/>
                <a:ea typeface="Georgia"/>
                <a:cs typeface="Georgia"/>
              </a:defRPr>
            </a:pPr>
            <a:r>
              <a:rPr sz="1650" b="0" i="0">
                <a:solidFill>
                  <a:srgbClr val="D5C4A0"/>
                </a:solidFill>
                <a:latin typeface="Georgia"/>
                <a:ea typeface="Georgia"/>
                <a:cs typeface="Georgia"/>
              </a:rPr>
              <a:t>Spring Boot API и серверная бизнес-логика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1511E467-DC50-4DEE-BA5C-202503123E04}"/>
              </a:ext>
            </a:extLst>
          </p:cNvPr>
          <p:cNvSpPr>
            <a:spLocks noGrp="1"/>
          </p:cNvSpPr>
          <p:nvPr/>
        </p:nvSpPr>
        <p:spPr>
          <a:xfrm>
            <a:off x="666750" y="1943100"/>
            <a:ext cx="10858500" cy="9525"/>
          </a:xfrm>
          <a:prstGeom prst="rect">
            <a:avLst/>
          </a:prstGeom>
          <a:solidFill>
            <a:srgbClr val="5A4522"/>
          </a:solidFill>
          <a:ln w="0">
            <a:solidFill>
              <a:srgbClr val="5A4522"/>
            </a:solidFill>
            <a:prstDash val="solid"/>
          </a:ln>
        </p:spPr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7BFA06AE-6568-457E-BC32-208D6FA9AFF1}"/>
              </a:ext>
            </a:extLst>
          </p:cNvPr>
          <p:cNvSpPr>
            <a:spLocks noGrp="1"/>
          </p:cNvSpPr>
          <p:nvPr/>
        </p:nvSpPr>
        <p:spPr>
          <a:xfrm>
            <a:off x="666750" y="2333625"/>
            <a:ext cx="2952750" cy="1143000"/>
          </a:xfrm>
          <a:prstGeom prst="rect">
            <a:avLst/>
          </a:prstGeom>
          <a:solidFill>
            <a:srgbClr val="11100C"/>
          </a:solidFill>
          <a:ln w="9525">
            <a:solidFill>
              <a:srgbClr val="5A4522"/>
            </a:solidFill>
            <a:prstDash val="solid"/>
          </a:ln>
        </p:spPr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B216A49B-B152-44C6-B463-8C69CFA2170B}"/>
              </a:ext>
            </a:extLst>
          </p:cNvPr>
          <p:cNvSpPr>
            <a:spLocks noGrp="1"/>
          </p:cNvSpPr>
          <p:nvPr/>
        </p:nvSpPr>
        <p:spPr>
          <a:xfrm>
            <a:off x="895350" y="2524125"/>
            <a:ext cx="24955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97619"/>
          </a:bodyPr>
          <a:lstStyle/>
          <a:p>
            <a:pPr>
              <a:defRPr sz="1050" b="1" i="0">
                <a:solidFill>
                  <a:srgbClr val="D6A84D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D6A84D"/>
                </a:solidFill>
                <a:latin typeface="Arial"/>
                <a:ea typeface="Arial"/>
                <a:cs typeface="Arial"/>
              </a:rPr>
              <a:t>AUTH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078B5FC1-31E0-44F1-B520-C8ECD15D4E09}"/>
              </a:ext>
            </a:extLst>
          </p:cNvPr>
          <p:cNvSpPr>
            <a:spLocks noGrp="1"/>
          </p:cNvSpPr>
          <p:nvPr/>
        </p:nvSpPr>
        <p:spPr>
          <a:xfrm>
            <a:off x="895350" y="2828925"/>
            <a:ext cx="24955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94118"/>
          </a:bodyPr>
          <a:lstStyle/>
          <a:p>
            <a:pPr>
              <a:defRPr sz="2550" b="1" i="0">
                <a:solidFill>
                  <a:srgbClr val="FFF7E8"/>
                </a:solidFill>
                <a:latin typeface="Georgia"/>
                <a:ea typeface="Georgia"/>
                <a:cs typeface="Georgia"/>
              </a:defRPr>
            </a:pPr>
            <a:r>
              <a:rPr sz="2550" b="1" i="0">
                <a:solidFill>
                  <a:srgbClr val="FFF7E8"/>
                </a:solidFill>
                <a:latin typeface="Georgia"/>
                <a:ea typeface="Georgia"/>
                <a:cs typeface="Georgia"/>
              </a:rPr>
              <a:t>JWT + OAuth2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A0021C67-9C92-448C-81A3-CD276B3275DF}"/>
              </a:ext>
            </a:extLst>
          </p:cNvPr>
          <p:cNvSpPr>
            <a:spLocks noGrp="1"/>
          </p:cNvSpPr>
          <p:nvPr/>
        </p:nvSpPr>
        <p:spPr>
          <a:xfrm>
            <a:off x="3952875" y="2333625"/>
            <a:ext cx="2952750" cy="1143000"/>
          </a:xfrm>
          <a:prstGeom prst="rect">
            <a:avLst/>
          </a:prstGeom>
          <a:solidFill>
            <a:srgbClr val="11100C"/>
          </a:solidFill>
          <a:ln w="9525">
            <a:solidFill>
              <a:srgbClr val="5A4522"/>
            </a:solidFill>
            <a:prstDash val="solid"/>
          </a:ln>
        </p:spPr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7DBA40ED-E0D9-4201-9E1F-5DE8B0697E8C}"/>
              </a:ext>
            </a:extLst>
          </p:cNvPr>
          <p:cNvSpPr>
            <a:spLocks noGrp="1"/>
          </p:cNvSpPr>
          <p:nvPr/>
        </p:nvSpPr>
        <p:spPr>
          <a:xfrm>
            <a:off x="4181475" y="2524125"/>
            <a:ext cx="24955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97619"/>
          </a:bodyPr>
          <a:lstStyle/>
          <a:p>
            <a:pPr>
              <a:defRPr sz="1050" b="1" i="0">
                <a:solidFill>
                  <a:srgbClr val="D6A84D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D6A84D"/>
                </a:solidFill>
                <a:latin typeface="Arial"/>
                <a:ea typeface="Arial"/>
                <a:cs typeface="Arial"/>
              </a:rPr>
              <a:t>DATA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87125C03-664E-49D5-B78F-6D3893D4062C}"/>
              </a:ext>
            </a:extLst>
          </p:cNvPr>
          <p:cNvSpPr>
            <a:spLocks noGrp="1"/>
          </p:cNvSpPr>
          <p:nvPr/>
        </p:nvSpPr>
        <p:spPr>
          <a:xfrm>
            <a:off x="4181475" y="2828925"/>
            <a:ext cx="24955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94118"/>
          </a:bodyPr>
          <a:lstStyle/>
          <a:p>
            <a:pPr>
              <a:defRPr sz="2550" b="1" i="0">
                <a:solidFill>
                  <a:srgbClr val="FFF7E8"/>
                </a:solidFill>
                <a:latin typeface="Georgia"/>
                <a:ea typeface="Georgia"/>
                <a:cs typeface="Georgia"/>
              </a:defRPr>
            </a:pPr>
            <a:r>
              <a:rPr sz="2550" b="1" i="0">
                <a:solidFill>
                  <a:srgbClr val="FFF7E8"/>
                </a:solidFill>
                <a:latin typeface="Georgia"/>
                <a:ea typeface="Georgia"/>
                <a:cs typeface="Georgia"/>
              </a:rPr>
              <a:t>JPA + Flyway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1A17C744-72DB-4367-A88E-F2800DAC4933}"/>
              </a:ext>
            </a:extLst>
          </p:cNvPr>
          <p:cNvSpPr>
            <a:spLocks noGrp="1"/>
          </p:cNvSpPr>
          <p:nvPr/>
        </p:nvSpPr>
        <p:spPr>
          <a:xfrm>
            <a:off x="7239000" y="2333625"/>
            <a:ext cx="2952750" cy="1143000"/>
          </a:xfrm>
          <a:prstGeom prst="rect">
            <a:avLst/>
          </a:prstGeom>
          <a:solidFill>
            <a:srgbClr val="11100C"/>
          </a:solidFill>
          <a:ln w="9525">
            <a:solidFill>
              <a:srgbClr val="5A4522"/>
            </a:solidFill>
            <a:prstDash val="solid"/>
          </a:ln>
        </p:spPr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8EE541A2-F1E2-458C-88A1-E0B2C317FA29}"/>
              </a:ext>
            </a:extLst>
          </p:cNvPr>
          <p:cNvSpPr>
            <a:spLocks noGrp="1"/>
          </p:cNvSpPr>
          <p:nvPr/>
        </p:nvSpPr>
        <p:spPr>
          <a:xfrm>
            <a:off x="7467600" y="2524125"/>
            <a:ext cx="24955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97619"/>
          </a:bodyPr>
          <a:lstStyle/>
          <a:p>
            <a:pPr>
              <a:defRPr sz="1050" b="1" i="0">
                <a:solidFill>
                  <a:srgbClr val="D6A84D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D6A84D"/>
                </a:solidFill>
                <a:latin typeface="Arial"/>
                <a:ea typeface="Arial"/>
                <a:cs typeface="Arial"/>
              </a:rPr>
              <a:t>MAIL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9E6E9D16-A63A-4808-84A2-31261542462B}"/>
              </a:ext>
            </a:extLst>
          </p:cNvPr>
          <p:cNvSpPr>
            <a:spLocks noGrp="1"/>
          </p:cNvSpPr>
          <p:nvPr/>
        </p:nvSpPr>
        <p:spPr>
          <a:xfrm>
            <a:off x="7467600" y="2828925"/>
            <a:ext cx="24955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91999"/>
          </a:bodyPr>
          <a:lstStyle/>
          <a:p>
            <a:pPr>
              <a:defRPr sz="2550" b="1" i="0">
                <a:solidFill>
                  <a:srgbClr val="FFF7E8"/>
                </a:solidFill>
                <a:latin typeface="Georgia"/>
                <a:ea typeface="Georgia"/>
                <a:cs typeface="Georgia"/>
              </a:defRPr>
            </a:pPr>
            <a:r>
              <a:rPr sz="2550" b="1" i="0">
                <a:solidFill>
                  <a:srgbClr val="FFF7E8"/>
                </a:solidFill>
                <a:latin typeface="Georgia"/>
                <a:ea typeface="Georgia"/>
                <a:cs typeface="Georgia"/>
              </a:rPr>
              <a:t>SMTP / Mailpit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AD6B3F42-62E8-4D86-9F7D-7EABC7B716D8}"/>
              </a:ext>
            </a:extLst>
          </p:cNvPr>
          <p:cNvSpPr>
            <a:spLocks noGrp="1"/>
          </p:cNvSpPr>
          <p:nvPr/>
        </p:nvSpPr>
        <p:spPr>
          <a:xfrm>
            <a:off x="666750" y="3905250"/>
            <a:ext cx="9906000" cy="1381125"/>
          </a:xfrm>
          <a:prstGeom prst="rect">
            <a:avLst/>
          </a:prstGeom>
          <a:solidFill>
            <a:srgbClr val="11100C"/>
          </a:solidFill>
          <a:ln w="9525">
            <a:solidFill>
              <a:srgbClr val="5A4522"/>
            </a:solidFill>
            <a:prstDash val="solid"/>
          </a:ln>
        </p:spPr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E8BD9AC9-D747-47AD-AF81-503B9ADF544F}"/>
              </a:ext>
            </a:extLst>
          </p:cNvPr>
          <p:cNvSpPr>
            <a:spLocks noGrp="1"/>
          </p:cNvSpPr>
          <p:nvPr/>
        </p:nvSpPr>
        <p:spPr>
          <a:xfrm>
            <a:off x="952500" y="4143375"/>
            <a:ext cx="93345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95370"/>
          </a:bodyPr>
          <a:lstStyle/>
          <a:p>
            <a:pPr>
              <a:defRPr sz="1350" b="0" i="0">
                <a:solidFill>
                  <a:srgbClr val="FFF7E8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FFF7E8"/>
                </a:solidFill>
                <a:latin typeface="Arial"/>
                <a:ea typeface="Arial"/>
                <a:cs typeface="Arial"/>
              </a:rPr>
              <a:t>• модули: identityaccess, charactersheet, charactertransfer, content, notification</a:t>
            </a:r>
          </a:p>
          <a:p>
            <a:pPr>
              <a:defRPr sz="1350" b="0" i="0">
                <a:solidFill>
                  <a:srgbClr val="FFF7E8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FFF7E8"/>
                </a:solidFill>
                <a:latin typeface="Arial"/>
                <a:ea typeface="Arial"/>
                <a:cs typeface="Arial"/>
              </a:rPr>
              <a:t>• валидация DTO и понятные ошибки вместо stack trace</a:t>
            </a:r>
          </a:p>
          <a:p>
            <a:pPr>
              <a:defRPr sz="1350" b="0" i="0">
                <a:solidFill>
                  <a:srgbClr val="FFF7E8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FFF7E8"/>
                </a:solidFill>
                <a:latin typeface="Arial"/>
                <a:ea typeface="Arial"/>
                <a:cs typeface="Arial"/>
              </a:rPr>
              <a:t>• импорт/экспорт JSON персонажей</a:t>
            </a:r>
          </a:p>
          <a:p>
            <a:pPr>
              <a:defRPr sz="1350" b="0" i="0">
                <a:solidFill>
                  <a:srgbClr val="FFF7E8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FFF7E8"/>
                </a:solidFill>
                <a:latin typeface="Arial"/>
                <a:ea typeface="Arial"/>
                <a:cs typeface="Arial"/>
              </a:rPr>
              <a:t>• админские endpoint-ы для пользователей, персонажей и контента</a:t>
            </a:r>
          </a:p>
        </p:txBody>
      </p:sp>
    </p:spTree>
    <p:extLst>
      <p:ext uri="{BB962C8B-B14F-4D97-AF65-F5344CB8AC3E}">
        <p14:creationId xmlns:p14="http://schemas.microsoft.com/office/powerpoint/2010/main" val="1023307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6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F1DE1BE9-E9E4-48F0-BC5D-58D85FEB7A03}"/>
              </a:ext>
            </a:extLst>
          </p:cNvPr>
          <p:cNvSpPr>
            <a:spLocks noGrp="1"/>
          </p:cNvSpPr>
          <p:nvPr/>
        </p:nvSpPr>
        <p:spPr>
          <a:xfrm>
            <a:off x="10858500" y="6419850"/>
            <a:ext cx="666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85714"/>
          </a:bodyPr>
          <a:lstStyle/>
          <a:p>
            <a:pPr>
              <a:defRPr sz="1050" b="0" i="0">
                <a:solidFill>
                  <a:srgbClr val="D5C4A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D5C4A0"/>
                </a:solidFill>
                <a:latin typeface="Arial"/>
                <a:ea typeface="Arial"/>
                <a:cs typeface="Arial"/>
              </a:rPr>
              <a:t>7 / 13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1D08F04B-A535-4184-87B0-2562C6F4C349}"/>
              </a:ext>
            </a:extLst>
          </p:cNvPr>
          <p:cNvSpPr>
            <a:spLocks noGrp="1"/>
          </p:cNvSpPr>
          <p:nvPr/>
        </p:nvSpPr>
        <p:spPr>
          <a:xfrm>
            <a:off x="666750" y="266700"/>
            <a:ext cx="2476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>
              <a:defRPr sz="1200" b="1" i="0">
                <a:solidFill>
                  <a:srgbClr val="D6A84D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D6A84D"/>
                </a:solidFill>
                <a:latin typeface="Arial"/>
                <a:ea typeface="Arial"/>
                <a:cs typeface="Arial"/>
              </a:rPr>
              <a:t>PFP COMPANION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7892AAAB-85DB-4889-A96D-14399FC4D750}"/>
              </a:ext>
            </a:extLst>
          </p:cNvPr>
          <p:cNvSpPr>
            <a:spLocks noGrp="1"/>
          </p:cNvSpPr>
          <p:nvPr/>
        </p:nvSpPr>
        <p:spPr>
          <a:xfrm>
            <a:off x="666750" y="742950"/>
            <a:ext cx="74295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>
              <a:defRPr sz="3300" b="1" i="0">
                <a:solidFill>
                  <a:srgbClr val="FFF7E8"/>
                </a:solidFill>
                <a:latin typeface="Georgia"/>
                <a:ea typeface="Georgia"/>
                <a:cs typeface="Georgia"/>
              </a:defRPr>
            </a:pPr>
            <a:r>
              <a:rPr sz="3300" b="1" i="0">
                <a:solidFill>
                  <a:srgbClr val="FFF7E8"/>
                </a:solidFill>
                <a:latin typeface="Georgia"/>
                <a:ea typeface="Georgia"/>
                <a:cs typeface="Georgia"/>
              </a:rPr>
              <a:t>Web-клиент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FB9D2EB6-7895-487C-BCA1-85B49AE6380F}"/>
              </a:ext>
            </a:extLst>
          </p:cNvPr>
          <p:cNvSpPr>
            <a:spLocks noGrp="1"/>
          </p:cNvSpPr>
          <p:nvPr/>
        </p:nvSpPr>
        <p:spPr>
          <a:xfrm>
            <a:off x="666750" y="1390650"/>
            <a:ext cx="8096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>
              <a:defRPr sz="1650" b="0" i="0">
                <a:solidFill>
                  <a:srgbClr val="D5C4A0"/>
                </a:solidFill>
                <a:latin typeface="Georgia"/>
                <a:ea typeface="Georgia"/>
                <a:cs typeface="Georgia"/>
              </a:defRPr>
            </a:pPr>
            <a:r>
              <a:rPr sz="1650" b="0" i="0">
                <a:solidFill>
                  <a:srgbClr val="D5C4A0"/>
                </a:solidFill>
                <a:latin typeface="Georgia"/>
                <a:ea typeface="Georgia"/>
                <a:cs typeface="Georgia"/>
              </a:rPr>
              <a:t>Основной браузерный интерфейс игрока и администратора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9FB3BB32-5012-4A83-B894-54A0C0C94FAA}"/>
              </a:ext>
            </a:extLst>
          </p:cNvPr>
          <p:cNvSpPr>
            <a:spLocks noGrp="1"/>
          </p:cNvSpPr>
          <p:nvPr/>
        </p:nvSpPr>
        <p:spPr>
          <a:xfrm>
            <a:off x="666750" y="1943100"/>
            <a:ext cx="10858500" cy="9525"/>
          </a:xfrm>
          <a:prstGeom prst="rect">
            <a:avLst/>
          </a:prstGeom>
          <a:solidFill>
            <a:srgbClr val="5A4522"/>
          </a:solidFill>
          <a:ln w="0">
            <a:solidFill>
              <a:srgbClr val="5A4522"/>
            </a:solidFill>
            <a:prstDash val="solid"/>
          </a:ln>
        </p:spPr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94127771-99C6-4282-9E5D-F85E04358DE5}"/>
              </a:ext>
            </a:extLst>
          </p:cNvPr>
          <p:cNvSpPr>
            <a:spLocks noGrp="1"/>
          </p:cNvSpPr>
          <p:nvPr/>
        </p:nvSpPr>
        <p:spPr>
          <a:xfrm>
            <a:off x="666750" y="2286000"/>
            <a:ext cx="4762500" cy="2667000"/>
          </a:xfrm>
          <a:prstGeom prst="rect">
            <a:avLst/>
          </a:prstGeom>
          <a:solidFill>
            <a:srgbClr val="11100C"/>
          </a:solidFill>
          <a:ln w="9525">
            <a:solidFill>
              <a:srgbClr val="5A4522"/>
            </a:solidFill>
            <a:prstDash val="solid"/>
          </a:ln>
        </p:spPr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29612413-FF97-45B7-8614-F7F853C132FA}"/>
              </a:ext>
            </a:extLst>
          </p:cNvPr>
          <p:cNvSpPr>
            <a:spLocks noGrp="1"/>
          </p:cNvSpPr>
          <p:nvPr/>
        </p:nvSpPr>
        <p:spPr>
          <a:xfrm>
            <a:off x="952500" y="2571750"/>
            <a:ext cx="4191000" cy="1714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>
              <a:defRPr sz="1500" b="0" i="0">
                <a:solidFill>
                  <a:srgbClr val="FFF7E8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FFF7E8"/>
                </a:solidFill>
                <a:latin typeface="Arial"/>
                <a:ea typeface="Arial"/>
                <a:cs typeface="Arial"/>
              </a:rPr>
              <a:t>• архив персонажей с лимитом 100</a:t>
            </a:r>
          </a:p>
          <a:p>
            <a:pPr>
              <a:defRPr sz="1500" b="0" i="0">
                <a:solidFill>
                  <a:srgbClr val="FFF7E8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FFF7E8"/>
                </a:solidFill>
                <a:latin typeface="Arial"/>
                <a:ea typeface="Arial"/>
                <a:cs typeface="Arial"/>
              </a:rPr>
              <a:t>• лист персонажа с закреплённой панелью</a:t>
            </a:r>
          </a:p>
          <a:p>
            <a:pPr>
              <a:defRPr sz="1500" b="0" i="0">
                <a:solidFill>
                  <a:srgbClr val="FFF7E8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FFF7E8"/>
                </a:solidFill>
                <a:latin typeface="Arial"/>
                <a:ea typeface="Arial"/>
                <a:cs typeface="Arial"/>
              </a:rPr>
              <a:t>• инвентарь, экипировка, заклинания</a:t>
            </a:r>
          </a:p>
          <a:p>
            <a:pPr>
              <a:defRPr sz="1500" b="0" i="0">
                <a:solidFill>
                  <a:srgbClr val="FFF7E8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FFF7E8"/>
                </a:solidFill>
                <a:latin typeface="Arial"/>
                <a:ea typeface="Arial"/>
                <a:cs typeface="Arial"/>
              </a:rPr>
              <a:t>• лоре и справочник правил</a:t>
            </a:r>
          </a:p>
          <a:p>
            <a:pPr>
              <a:defRPr sz="1500" b="0" i="0">
                <a:solidFill>
                  <a:srgbClr val="FFF7E8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FFF7E8"/>
                </a:solidFill>
                <a:latin typeface="Arial"/>
                <a:ea typeface="Arial"/>
                <a:cs typeface="Arial"/>
              </a:rPr>
              <a:t>• админка: users, characters, content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0A5735CB-71C2-412C-8CB2-562FF1FEA13E}"/>
              </a:ext>
            </a:extLst>
          </p:cNvPr>
          <p:cNvSpPr>
            <a:spLocks noGrp="1"/>
          </p:cNvSpPr>
          <p:nvPr/>
        </p:nvSpPr>
        <p:spPr>
          <a:xfrm>
            <a:off x="6191250" y="2286000"/>
            <a:ext cx="4762500" cy="2667000"/>
          </a:xfrm>
          <a:prstGeom prst="rect">
            <a:avLst/>
          </a:prstGeom>
          <a:solidFill>
            <a:srgbClr val="201D15"/>
          </a:solidFill>
          <a:ln w="9525">
            <a:solidFill>
              <a:srgbClr val="5A4522"/>
            </a:solidFill>
            <a:prstDash val="solid"/>
          </a:ln>
        </p:spPr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2F09EBD7-928B-4FDD-8717-1639EDC6072E}"/>
              </a:ext>
            </a:extLst>
          </p:cNvPr>
          <p:cNvSpPr>
            <a:spLocks noGrp="1"/>
          </p:cNvSpPr>
          <p:nvPr/>
        </p:nvSpPr>
        <p:spPr>
          <a:xfrm>
            <a:off x="6477000" y="2609850"/>
            <a:ext cx="4000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72619"/>
          </a:bodyPr>
          <a:lstStyle/>
          <a:p>
            <a:pPr>
              <a:defRPr sz="2100" b="1" i="0">
                <a:solidFill>
                  <a:srgbClr val="FFF7E8"/>
                </a:solidFill>
                <a:latin typeface="Georgia"/>
                <a:ea typeface="Georgia"/>
                <a:cs typeface="Georgia"/>
              </a:defRPr>
            </a:pPr>
            <a:r>
              <a:rPr sz="2100" b="1" i="0">
                <a:solidFill>
                  <a:srgbClr val="FFF7E8"/>
                </a:solidFill>
                <a:latin typeface="Georgia"/>
                <a:ea typeface="Georgia"/>
                <a:cs typeface="Georgia"/>
              </a:rPr>
              <a:t>UX-акценты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054CDFDA-8B06-4F6F-8A7C-506DD5C05432}"/>
              </a:ext>
            </a:extLst>
          </p:cNvPr>
          <p:cNvSpPr>
            <a:spLocks noGrp="1"/>
          </p:cNvSpPr>
          <p:nvPr/>
        </p:nvSpPr>
        <p:spPr>
          <a:xfrm>
            <a:off x="6477000" y="3143250"/>
            <a:ext cx="390525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99069"/>
          </a:bodyPr>
          <a:lstStyle/>
          <a:p>
            <a:pPr>
              <a:defRPr sz="1350" b="0" i="0">
                <a:solidFill>
                  <a:srgbClr val="FFF7E8"/>
                </a:solidFill>
                <a:latin typeface="Arial"/>
                <a:ea typeface="Arial"/>
                <a:cs typeface="Arial"/>
              </a:defRPr>
            </a:pPr>
            <a:r>
              <a:rPr sz="1350" b="0" i="0" dirty="0">
                <a:solidFill>
                  <a:srgbClr val="FFF7E8"/>
                </a:solidFill>
                <a:latin typeface="Arial"/>
                <a:ea typeface="Arial"/>
                <a:cs typeface="Arial"/>
              </a:rPr>
              <a:t>• </a:t>
            </a:r>
            <a:r>
              <a:rPr sz="1350" b="0" i="0" dirty="0" err="1">
                <a:solidFill>
                  <a:srgbClr val="FFF7E8"/>
                </a:solidFill>
                <a:latin typeface="Arial"/>
                <a:ea typeface="Arial"/>
                <a:cs typeface="Arial"/>
              </a:rPr>
              <a:t>предмет</a:t>
            </a:r>
            <a:r>
              <a:rPr sz="1350" b="0" i="0" dirty="0">
                <a:solidFill>
                  <a:srgbClr val="FFF7E8"/>
                </a:solidFill>
                <a:latin typeface="Arial"/>
                <a:ea typeface="Arial"/>
                <a:cs typeface="Arial"/>
              </a:rPr>
              <a:t> </a:t>
            </a:r>
            <a:r>
              <a:rPr sz="1350" b="0" i="0" dirty="0" err="1">
                <a:solidFill>
                  <a:srgbClr val="FFF7E8"/>
                </a:solidFill>
                <a:latin typeface="Arial"/>
                <a:ea typeface="Arial"/>
                <a:cs typeface="Arial"/>
              </a:rPr>
              <a:t>можно</a:t>
            </a:r>
            <a:r>
              <a:rPr sz="1350" b="0" i="0" dirty="0">
                <a:solidFill>
                  <a:srgbClr val="FFF7E8"/>
                </a:solidFill>
                <a:latin typeface="Arial"/>
                <a:ea typeface="Arial"/>
                <a:cs typeface="Arial"/>
              </a:rPr>
              <a:t> </a:t>
            </a:r>
            <a:r>
              <a:rPr sz="1350" b="0" i="0" dirty="0" err="1">
                <a:solidFill>
                  <a:srgbClr val="FFF7E8"/>
                </a:solidFill>
                <a:latin typeface="Arial"/>
                <a:ea typeface="Arial"/>
                <a:cs typeface="Arial"/>
              </a:rPr>
              <a:t>создать</a:t>
            </a:r>
            <a:r>
              <a:rPr sz="1350" b="0" i="0" dirty="0">
                <a:solidFill>
                  <a:srgbClr val="FFF7E8"/>
                </a:solidFill>
                <a:latin typeface="Arial"/>
                <a:ea typeface="Arial"/>
                <a:cs typeface="Arial"/>
              </a:rPr>
              <a:t> </a:t>
            </a:r>
            <a:r>
              <a:rPr sz="1350" b="0" i="0" dirty="0" err="1">
                <a:solidFill>
                  <a:srgbClr val="FFF7E8"/>
                </a:solidFill>
                <a:latin typeface="Arial"/>
                <a:ea typeface="Arial"/>
                <a:cs typeface="Arial"/>
              </a:rPr>
              <a:t>кликом</a:t>
            </a:r>
            <a:r>
              <a:rPr sz="1350" b="0" i="0" dirty="0">
                <a:solidFill>
                  <a:srgbClr val="FFF7E8"/>
                </a:solidFill>
                <a:latin typeface="Arial"/>
                <a:ea typeface="Arial"/>
                <a:cs typeface="Arial"/>
              </a:rPr>
              <a:t> </a:t>
            </a:r>
            <a:r>
              <a:rPr sz="1350" b="0" i="0" dirty="0" err="1">
                <a:solidFill>
                  <a:srgbClr val="FFF7E8"/>
                </a:solidFill>
                <a:latin typeface="Arial"/>
                <a:ea typeface="Arial"/>
                <a:cs typeface="Arial"/>
              </a:rPr>
              <a:t>по</a:t>
            </a:r>
            <a:r>
              <a:rPr sz="1350" b="0" i="0" dirty="0">
                <a:solidFill>
                  <a:srgbClr val="FFF7E8"/>
                </a:solidFill>
                <a:latin typeface="Arial"/>
                <a:ea typeface="Arial"/>
                <a:cs typeface="Arial"/>
              </a:rPr>
              <a:t> </a:t>
            </a:r>
            <a:r>
              <a:rPr sz="1350" b="0" i="0" dirty="0" err="1">
                <a:solidFill>
                  <a:srgbClr val="FFF7E8"/>
                </a:solidFill>
                <a:latin typeface="Arial"/>
                <a:ea typeface="Arial"/>
                <a:cs typeface="Arial"/>
              </a:rPr>
              <a:t>пустой</a:t>
            </a:r>
            <a:r>
              <a:rPr sz="1350" b="0" i="0" dirty="0">
                <a:solidFill>
                  <a:srgbClr val="FFF7E8"/>
                </a:solidFill>
                <a:latin typeface="Arial"/>
                <a:ea typeface="Arial"/>
                <a:cs typeface="Arial"/>
              </a:rPr>
              <a:t> </a:t>
            </a:r>
            <a:r>
              <a:rPr sz="1350" b="0" i="0" dirty="0" err="1">
                <a:solidFill>
                  <a:srgbClr val="FFF7E8"/>
                </a:solidFill>
                <a:latin typeface="Arial"/>
                <a:ea typeface="Arial"/>
                <a:cs typeface="Arial"/>
              </a:rPr>
              <a:t>ячейке</a:t>
            </a:r>
            <a:endParaRPr sz="1350" b="0" i="0" dirty="0">
              <a:solidFill>
                <a:srgbClr val="FFF7E8"/>
              </a:solidFill>
              <a:latin typeface="Arial"/>
              <a:ea typeface="Arial"/>
              <a:cs typeface="Arial"/>
            </a:endParaRPr>
          </a:p>
          <a:p>
            <a:pPr>
              <a:defRPr sz="1350" b="0" i="0">
                <a:solidFill>
                  <a:srgbClr val="FFF7E8"/>
                </a:solidFill>
                <a:latin typeface="Arial"/>
                <a:ea typeface="Arial"/>
                <a:cs typeface="Arial"/>
              </a:defRPr>
            </a:pPr>
            <a:r>
              <a:rPr sz="1350" b="0" i="0" dirty="0">
                <a:solidFill>
                  <a:srgbClr val="FFF7E8"/>
                </a:solidFill>
                <a:latin typeface="Arial"/>
                <a:ea typeface="Arial"/>
                <a:cs typeface="Arial"/>
              </a:rPr>
              <a:t>• drag-and-drop </a:t>
            </a:r>
            <a:r>
              <a:rPr sz="1350" b="0" i="0" dirty="0" err="1">
                <a:solidFill>
                  <a:srgbClr val="FFF7E8"/>
                </a:solidFill>
                <a:latin typeface="Arial"/>
                <a:ea typeface="Arial"/>
                <a:cs typeface="Arial"/>
              </a:rPr>
              <a:t>не</a:t>
            </a:r>
            <a:r>
              <a:rPr sz="1350" b="0" i="0" dirty="0">
                <a:solidFill>
                  <a:srgbClr val="FFF7E8"/>
                </a:solidFill>
                <a:latin typeface="Arial"/>
                <a:ea typeface="Arial"/>
                <a:cs typeface="Arial"/>
              </a:rPr>
              <a:t> </a:t>
            </a:r>
            <a:r>
              <a:rPr sz="1350" b="0" i="0" dirty="0" err="1">
                <a:solidFill>
                  <a:srgbClr val="FFF7E8"/>
                </a:solidFill>
                <a:latin typeface="Arial"/>
                <a:ea typeface="Arial"/>
                <a:cs typeface="Arial"/>
              </a:rPr>
              <a:t>перезагружает</a:t>
            </a:r>
            <a:r>
              <a:rPr sz="1350" b="0" i="0" dirty="0">
                <a:solidFill>
                  <a:srgbClr val="FFF7E8"/>
                </a:solidFill>
                <a:latin typeface="Arial"/>
                <a:ea typeface="Arial"/>
                <a:cs typeface="Arial"/>
              </a:rPr>
              <a:t> </a:t>
            </a:r>
            <a:r>
              <a:rPr sz="1350" b="0" i="0" dirty="0" err="1">
                <a:solidFill>
                  <a:srgbClr val="FFF7E8"/>
                </a:solidFill>
                <a:latin typeface="Arial"/>
                <a:ea typeface="Arial"/>
                <a:cs typeface="Arial"/>
              </a:rPr>
              <a:t>изображения</a:t>
            </a:r>
            <a:endParaRPr sz="1350" b="0" i="0" dirty="0">
              <a:solidFill>
                <a:srgbClr val="FFF7E8"/>
              </a:solidFill>
              <a:latin typeface="Arial"/>
              <a:ea typeface="Arial"/>
              <a:cs typeface="Arial"/>
            </a:endParaRPr>
          </a:p>
          <a:p>
            <a:pPr>
              <a:defRPr sz="1350" b="0" i="0">
                <a:solidFill>
                  <a:srgbClr val="FFF7E8"/>
                </a:solidFill>
                <a:latin typeface="Arial"/>
                <a:ea typeface="Arial"/>
                <a:cs typeface="Arial"/>
              </a:defRPr>
            </a:pPr>
            <a:r>
              <a:rPr sz="1350" b="0" i="0" dirty="0">
                <a:solidFill>
                  <a:srgbClr val="FFF7E8"/>
                </a:solidFill>
                <a:latin typeface="Arial"/>
                <a:ea typeface="Arial"/>
                <a:cs typeface="Arial"/>
              </a:rPr>
              <a:t>• </a:t>
            </a:r>
            <a:r>
              <a:rPr lang="ru-RU" sz="1350" b="0" i="0" dirty="0">
                <a:solidFill>
                  <a:srgbClr val="FFF7E8"/>
                </a:solidFill>
                <a:latin typeface="Arial"/>
                <a:ea typeface="Arial"/>
                <a:cs typeface="Arial"/>
              </a:rPr>
              <a:t>Удобные для восприятия ошибки авторизации</a:t>
            </a:r>
            <a:endParaRPr sz="1350" b="0" i="0" dirty="0">
              <a:solidFill>
                <a:srgbClr val="FFF7E8"/>
              </a:solidFill>
              <a:latin typeface="Arial"/>
              <a:ea typeface="Arial"/>
              <a:cs typeface="Arial"/>
            </a:endParaRPr>
          </a:p>
          <a:p>
            <a:pPr>
              <a:defRPr sz="1350" b="0" i="0">
                <a:solidFill>
                  <a:srgbClr val="FFF7E8"/>
                </a:solidFill>
                <a:latin typeface="Arial"/>
                <a:ea typeface="Arial"/>
                <a:cs typeface="Arial"/>
              </a:defRPr>
            </a:pPr>
            <a:r>
              <a:rPr sz="1350" b="0" i="0" dirty="0">
                <a:solidFill>
                  <a:srgbClr val="FFF7E8"/>
                </a:solidFill>
                <a:latin typeface="Arial"/>
                <a:ea typeface="Arial"/>
                <a:cs typeface="Arial"/>
              </a:rPr>
              <a:t>• </a:t>
            </a:r>
            <a:r>
              <a:rPr sz="1350" b="0" i="0" dirty="0" err="1">
                <a:solidFill>
                  <a:srgbClr val="FFF7E8"/>
                </a:solidFill>
                <a:latin typeface="Arial"/>
                <a:ea typeface="Arial"/>
                <a:cs typeface="Arial"/>
              </a:rPr>
              <a:t>шапка</a:t>
            </a:r>
            <a:r>
              <a:rPr sz="1350" b="0" i="0" dirty="0">
                <a:solidFill>
                  <a:srgbClr val="FFF7E8"/>
                </a:solidFill>
                <a:latin typeface="Arial"/>
                <a:ea typeface="Arial"/>
                <a:cs typeface="Arial"/>
              </a:rPr>
              <a:t> и </a:t>
            </a:r>
            <a:r>
              <a:rPr sz="1350" b="0" i="0" dirty="0" err="1">
                <a:solidFill>
                  <a:srgbClr val="FFF7E8"/>
                </a:solidFill>
                <a:latin typeface="Arial"/>
                <a:ea typeface="Arial"/>
                <a:cs typeface="Arial"/>
              </a:rPr>
              <a:t>карточки</a:t>
            </a:r>
            <a:r>
              <a:rPr sz="1350" b="0" i="0" dirty="0">
                <a:solidFill>
                  <a:srgbClr val="FFF7E8"/>
                </a:solidFill>
                <a:latin typeface="Arial"/>
                <a:ea typeface="Arial"/>
                <a:cs typeface="Arial"/>
              </a:rPr>
              <a:t> </a:t>
            </a:r>
            <a:r>
              <a:rPr sz="1350" b="0" i="0" dirty="0" err="1">
                <a:solidFill>
                  <a:srgbClr val="FFF7E8"/>
                </a:solidFill>
                <a:latin typeface="Arial"/>
                <a:ea typeface="Arial"/>
                <a:cs typeface="Arial"/>
              </a:rPr>
              <a:t>выдержаны</a:t>
            </a:r>
            <a:r>
              <a:rPr sz="1350" b="0" i="0" dirty="0">
                <a:solidFill>
                  <a:srgbClr val="FFF7E8"/>
                </a:solidFill>
                <a:latin typeface="Arial"/>
                <a:ea typeface="Arial"/>
                <a:cs typeface="Arial"/>
              </a:rPr>
              <a:t> в </a:t>
            </a:r>
            <a:r>
              <a:rPr sz="1350" b="0" i="0" dirty="0" err="1">
                <a:solidFill>
                  <a:srgbClr val="FFF7E8"/>
                </a:solidFill>
                <a:latin typeface="Arial"/>
                <a:ea typeface="Arial"/>
                <a:cs typeface="Arial"/>
              </a:rPr>
              <a:t>едином</a:t>
            </a:r>
            <a:r>
              <a:rPr sz="1350" b="0" i="0" dirty="0">
                <a:solidFill>
                  <a:srgbClr val="FFF7E8"/>
                </a:solidFill>
                <a:latin typeface="Arial"/>
                <a:ea typeface="Arial"/>
                <a:cs typeface="Arial"/>
              </a:rPr>
              <a:t> </a:t>
            </a:r>
            <a:r>
              <a:rPr sz="1350" b="0" i="0" dirty="0" err="1">
                <a:solidFill>
                  <a:srgbClr val="FFF7E8"/>
                </a:solidFill>
                <a:latin typeface="Arial"/>
                <a:ea typeface="Arial"/>
                <a:cs typeface="Arial"/>
              </a:rPr>
              <a:t>стиле</a:t>
            </a:r>
            <a:endParaRPr sz="1350" b="0" i="0" dirty="0">
              <a:solidFill>
                <a:srgbClr val="FFF7E8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562156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6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724E3A93-097A-4D0C-A0D9-F65F3CE32939}"/>
              </a:ext>
            </a:extLst>
          </p:cNvPr>
          <p:cNvSpPr>
            <a:spLocks noGrp="1"/>
          </p:cNvSpPr>
          <p:nvPr/>
        </p:nvSpPr>
        <p:spPr>
          <a:xfrm>
            <a:off x="10858500" y="6419850"/>
            <a:ext cx="666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85714"/>
          </a:bodyPr>
          <a:lstStyle/>
          <a:p>
            <a:pPr>
              <a:defRPr sz="1050" b="0" i="0">
                <a:solidFill>
                  <a:srgbClr val="D5C4A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D5C4A0"/>
                </a:solidFill>
                <a:latin typeface="Arial"/>
                <a:ea typeface="Arial"/>
                <a:cs typeface="Arial"/>
              </a:rPr>
              <a:t>8 / 13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48CFA0C7-97D4-48CA-AA8B-9FF46546E608}"/>
              </a:ext>
            </a:extLst>
          </p:cNvPr>
          <p:cNvSpPr>
            <a:spLocks noGrp="1"/>
          </p:cNvSpPr>
          <p:nvPr/>
        </p:nvSpPr>
        <p:spPr>
          <a:xfrm>
            <a:off x="666750" y="266700"/>
            <a:ext cx="2476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>
              <a:defRPr sz="1200" b="1" i="0">
                <a:solidFill>
                  <a:srgbClr val="D6A84D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D6A84D"/>
                </a:solidFill>
                <a:latin typeface="Arial"/>
                <a:ea typeface="Arial"/>
                <a:cs typeface="Arial"/>
              </a:rPr>
              <a:t>PFP COMPANION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7A3B4CF4-D0A2-4722-A95E-DD64E753F45B}"/>
              </a:ext>
            </a:extLst>
          </p:cNvPr>
          <p:cNvSpPr>
            <a:spLocks noGrp="1"/>
          </p:cNvSpPr>
          <p:nvPr/>
        </p:nvSpPr>
        <p:spPr>
          <a:xfrm>
            <a:off x="666750" y="742950"/>
            <a:ext cx="74295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>
              <a:defRPr sz="3300" b="1" i="0">
                <a:solidFill>
                  <a:srgbClr val="FFF7E8"/>
                </a:solidFill>
                <a:latin typeface="Georgia"/>
                <a:ea typeface="Georgia"/>
                <a:cs typeface="Georgia"/>
              </a:defRPr>
            </a:pPr>
            <a:r>
              <a:rPr sz="3300" b="1" i="0">
                <a:solidFill>
                  <a:srgbClr val="FFF7E8"/>
                </a:solidFill>
                <a:latin typeface="Georgia"/>
                <a:ea typeface="Georgia"/>
                <a:cs typeface="Georgia"/>
              </a:rPr>
              <a:t>Desktop-клиент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4AB78443-AE9B-4CDA-8FCA-34F8E2C66073}"/>
              </a:ext>
            </a:extLst>
          </p:cNvPr>
          <p:cNvSpPr>
            <a:spLocks noGrp="1"/>
          </p:cNvSpPr>
          <p:nvPr/>
        </p:nvSpPr>
        <p:spPr>
          <a:xfrm>
            <a:off x="666750" y="1390650"/>
            <a:ext cx="8096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>
              <a:defRPr sz="1650" b="0" i="0">
                <a:solidFill>
                  <a:srgbClr val="D5C4A0"/>
                </a:solidFill>
                <a:latin typeface="Georgia"/>
                <a:ea typeface="Georgia"/>
                <a:cs typeface="Georgia"/>
              </a:defRPr>
            </a:pPr>
            <a:r>
              <a:rPr sz="1650" b="0" i="0">
                <a:solidFill>
                  <a:srgbClr val="D5C4A0"/>
                </a:solidFill>
                <a:latin typeface="Georgia"/>
                <a:ea typeface="Georgia"/>
                <a:cs typeface="Georgia"/>
              </a:rPr>
              <a:t>JavaFX-приложение с локальным и account-режимами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47A1736A-00AE-4A65-9C9C-0A8B3568EF04}"/>
              </a:ext>
            </a:extLst>
          </p:cNvPr>
          <p:cNvSpPr>
            <a:spLocks noGrp="1"/>
          </p:cNvSpPr>
          <p:nvPr/>
        </p:nvSpPr>
        <p:spPr>
          <a:xfrm>
            <a:off x="666750" y="1943100"/>
            <a:ext cx="10858500" cy="9525"/>
          </a:xfrm>
          <a:prstGeom prst="rect">
            <a:avLst/>
          </a:prstGeom>
          <a:solidFill>
            <a:srgbClr val="5A4522"/>
          </a:solidFill>
          <a:ln w="0">
            <a:solidFill>
              <a:srgbClr val="5A4522"/>
            </a:solidFill>
            <a:prstDash val="solid"/>
          </a:ln>
        </p:spPr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3BDD73DB-5689-4797-BB58-00AA83D237FD}"/>
              </a:ext>
            </a:extLst>
          </p:cNvPr>
          <p:cNvSpPr>
            <a:spLocks noGrp="1"/>
          </p:cNvSpPr>
          <p:nvPr/>
        </p:nvSpPr>
        <p:spPr>
          <a:xfrm>
            <a:off x="666750" y="2333625"/>
            <a:ext cx="3143250" cy="2286000"/>
          </a:xfrm>
          <a:prstGeom prst="rect">
            <a:avLst/>
          </a:prstGeom>
          <a:solidFill>
            <a:srgbClr val="11100C"/>
          </a:solidFill>
          <a:ln w="9525">
            <a:solidFill>
              <a:srgbClr val="5A4522"/>
            </a:solidFill>
            <a:prstDash val="solid"/>
          </a:ln>
        </p:spPr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EE8BC31A-C2E1-455A-B115-6B13C1BD9D4D}"/>
              </a:ext>
            </a:extLst>
          </p:cNvPr>
          <p:cNvSpPr>
            <a:spLocks noGrp="1"/>
          </p:cNvSpPr>
          <p:nvPr/>
        </p:nvSpPr>
        <p:spPr>
          <a:xfrm>
            <a:off x="952500" y="2647950"/>
            <a:ext cx="2571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78889"/>
          </a:bodyPr>
          <a:lstStyle/>
          <a:p>
            <a:pPr>
              <a:defRPr sz="2250" b="1" i="0">
                <a:solidFill>
                  <a:srgbClr val="FFF7E8"/>
                </a:solidFill>
                <a:latin typeface="Georgia"/>
                <a:ea typeface="Georgia"/>
                <a:cs typeface="Georgia"/>
              </a:defRPr>
            </a:pPr>
            <a:r>
              <a:rPr sz="2250" b="1" i="0">
                <a:solidFill>
                  <a:srgbClr val="FFF7E8"/>
                </a:solidFill>
                <a:latin typeface="Georgia"/>
                <a:ea typeface="Georgia"/>
                <a:cs typeface="Georgia"/>
              </a:rPr>
              <a:t>Гость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C15A49A0-3248-474C-AF93-B513007D3DDF}"/>
              </a:ext>
            </a:extLst>
          </p:cNvPr>
          <p:cNvSpPr>
            <a:spLocks noGrp="1"/>
          </p:cNvSpPr>
          <p:nvPr/>
        </p:nvSpPr>
        <p:spPr>
          <a:xfrm>
            <a:off x="952500" y="3238500"/>
            <a:ext cx="247650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>
              <a:defRPr sz="1500" b="0" i="0">
                <a:solidFill>
                  <a:srgbClr val="D5C4A0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D5C4A0"/>
                </a:solidFill>
                <a:latin typeface="Arial"/>
                <a:ea typeface="Arial"/>
                <a:cs typeface="Arial"/>
              </a:rPr>
              <a:t>Локальные JSON-файлы, до 30 персонажей, не требует backend.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CF8A4287-411D-49AC-A03F-16FFBEBAF9E2}"/>
              </a:ext>
            </a:extLst>
          </p:cNvPr>
          <p:cNvSpPr>
            <a:spLocks noGrp="1"/>
          </p:cNvSpPr>
          <p:nvPr/>
        </p:nvSpPr>
        <p:spPr>
          <a:xfrm>
            <a:off x="4524375" y="2333625"/>
            <a:ext cx="3143250" cy="2286000"/>
          </a:xfrm>
          <a:prstGeom prst="rect">
            <a:avLst/>
          </a:prstGeom>
          <a:solidFill>
            <a:srgbClr val="201D15"/>
          </a:solidFill>
          <a:ln w="9525">
            <a:solidFill>
              <a:srgbClr val="5A4522"/>
            </a:solidFill>
            <a:prstDash val="solid"/>
          </a:ln>
        </p:spPr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8A60B400-2294-40BA-A3D0-76A0504F9174}"/>
              </a:ext>
            </a:extLst>
          </p:cNvPr>
          <p:cNvSpPr>
            <a:spLocks noGrp="1"/>
          </p:cNvSpPr>
          <p:nvPr/>
        </p:nvSpPr>
        <p:spPr>
          <a:xfrm>
            <a:off x="4810125" y="2647950"/>
            <a:ext cx="2571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78889"/>
          </a:bodyPr>
          <a:lstStyle/>
          <a:p>
            <a:pPr>
              <a:defRPr sz="2250" b="1" i="0">
                <a:solidFill>
                  <a:srgbClr val="FFF7E8"/>
                </a:solidFill>
                <a:latin typeface="Georgia"/>
                <a:ea typeface="Georgia"/>
                <a:cs typeface="Georgia"/>
              </a:defRPr>
            </a:pPr>
            <a:r>
              <a:rPr sz="2250" b="1" i="0">
                <a:solidFill>
                  <a:srgbClr val="FFF7E8"/>
                </a:solidFill>
                <a:latin typeface="Georgia"/>
                <a:ea typeface="Georgia"/>
                <a:cs typeface="Georgia"/>
              </a:rPr>
              <a:t>Аккаунт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956875DF-5140-48C4-A210-3F5E0CCB6F9F}"/>
              </a:ext>
            </a:extLst>
          </p:cNvPr>
          <p:cNvSpPr>
            <a:spLocks noGrp="1"/>
          </p:cNvSpPr>
          <p:nvPr/>
        </p:nvSpPr>
        <p:spPr>
          <a:xfrm>
            <a:off x="4810125" y="3238500"/>
            <a:ext cx="247650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>
              <a:defRPr sz="1500" b="0" i="0">
                <a:solidFill>
                  <a:srgbClr val="D5C4A0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D5C4A0"/>
                </a:solidFill>
                <a:latin typeface="Arial"/>
                <a:ea typeface="Arial"/>
                <a:cs typeface="Arial"/>
              </a:rPr>
              <a:t>Синхронизация с тем же backend API, что использует web-версия.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CC95B5D9-6C48-4A60-860C-B7AB83C5FEB0}"/>
              </a:ext>
            </a:extLst>
          </p:cNvPr>
          <p:cNvSpPr>
            <a:spLocks noGrp="1"/>
          </p:cNvSpPr>
          <p:nvPr/>
        </p:nvSpPr>
        <p:spPr>
          <a:xfrm>
            <a:off x="8382000" y="2333625"/>
            <a:ext cx="2857500" cy="2286000"/>
          </a:xfrm>
          <a:prstGeom prst="rect">
            <a:avLst/>
          </a:prstGeom>
          <a:solidFill>
            <a:srgbClr val="11100C"/>
          </a:solidFill>
          <a:ln w="9525">
            <a:solidFill>
              <a:srgbClr val="5A4522"/>
            </a:solidFill>
            <a:prstDash val="solid"/>
          </a:ln>
        </p:spPr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83D2B398-2D9D-4690-9AEE-CFFD0622277B}"/>
              </a:ext>
            </a:extLst>
          </p:cNvPr>
          <p:cNvSpPr>
            <a:spLocks noGrp="1"/>
          </p:cNvSpPr>
          <p:nvPr/>
        </p:nvSpPr>
        <p:spPr>
          <a:xfrm>
            <a:off x="8667750" y="2647950"/>
            <a:ext cx="2286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78889"/>
          </a:bodyPr>
          <a:lstStyle/>
          <a:p>
            <a:pPr>
              <a:defRPr sz="2250" b="1" i="0">
                <a:solidFill>
                  <a:srgbClr val="FFF7E8"/>
                </a:solidFill>
                <a:latin typeface="Georgia"/>
                <a:ea typeface="Georgia"/>
                <a:cs typeface="Georgia"/>
              </a:defRPr>
            </a:pPr>
            <a:r>
              <a:rPr sz="2250" b="1" i="0">
                <a:solidFill>
                  <a:srgbClr val="FFF7E8"/>
                </a:solidFill>
                <a:latin typeface="Georgia"/>
                <a:ea typeface="Georgia"/>
                <a:cs typeface="Georgia"/>
              </a:rPr>
              <a:t>Установка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A223F1E6-A53B-43D5-A6FB-225AD23F3F25}"/>
              </a:ext>
            </a:extLst>
          </p:cNvPr>
          <p:cNvSpPr>
            <a:spLocks noGrp="1"/>
          </p:cNvSpPr>
          <p:nvPr/>
        </p:nvSpPr>
        <p:spPr>
          <a:xfrm>
            <a:off x="8667750" y="3238500"/>
            <a:ext cx="21907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94167"/>
          </a:bodyPr>
          <a:lstStyle/>
          <a:p>
            <a:pPr>
              <a:defRPr sz="1500" b="0" i="0">
                <a:solidFill>
                  <a:srgbClr val="D5C4A0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D5C4A0"/>
                </a:solidFill>
                <a:latin typeface="Arial"/>
                <a:ea typeface="Arial"/>
                <a:cs typeface="Arial"/>
              </a:rPr>
              <a:t>Self-contained app image через jpackage. Без установленной Java у пользователя.</a:t>
            </a:r>
          </a:p>
        </p:txBody>
      </p:sp>
    </p:spTree>
    <p:extLst>
      <p:ext uri="{BB962C8B-B14F-4D97-AF65-F5344CB8AC3E}">
        <p14:creationId xmlns:p14="http://schemas.microsoft.com/office/powerpoint/2010/main" val="3145668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6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EA1B1823-2285-46D1-8BE8-CBA1A4CA3A3D}"/>
              </a:ext>
            </a:extLst>
          </p:cNvPr>
          <p:cNvSpPr>
            <a:spLocks noGrp="1"/>
          </p:cNvSpPr>
          <p:nvPr/>
        </p:nvSpPr>
        <p:spPr>
          <a:xfrm>
            <a:off x="10858500" y="6419850"/>
            <a:ext cx="666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85714"/>
          </a:bodyPr>
          <a:lstStyle/>
          <a:p>
            <a:pPr>
              <a:defRPr sz="1050" b="0" i="0">
                <a:solidFill>
                  <a:srgbClr val="D5C4A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D5C4A0"/>
                </a:solidFill>
                <a:latin typeface="Arial"/>
                <a:ea typeface="Arial"/>
                <a:cs typeface="Arial"/>
              </a:rPr>
              <a:t>9 / 13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13662C60-D5E7-4293-982D-CD2226A9542A}"/>
              </a:ext>
            </a:extLst>
          </p:cNvPr>
          <p:cNvSpPr>
            <a:spLocks noGrp="1"/>
          </p:cNvSpPr>
          <p:nvPr/>
        </p:nvSpPr>
        <p:spPr>
          <a:xfrm>
            <a:off x="666750" y="266700"/>
            <a:ext cx="2476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>
              <a:defRPr sz="1200" b="1" i="0">
                <a:solidFill>
                  <a:srgbClr val="D6A84D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D6A84D"/>
                </a:solidFill>
                <a:latin typeface="Arial"/>
                <a:ea typeface="Arial"/>
                <a:cs typeface="Arial"/>
              </a:rPr>
              <a:t>PFP COMPANION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D2344761-6C34-4804-8AF8-E6D436154F7E}"/>
              </a:ext>
            </a:extLst>
          </p:cNvPr>
          <p:cNvSpPr>
            <a:spLocks noGrp="1"/>
          </p:cNvSpPr>
          <p:nvPr/>
        </p:nvSpPr>
        <p:spPr>
          <a:xfrm>
            <a:off x="666750" y="742950"/>
            <a:ext cx="74295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>
              <a:defRPr sz="3300" b="1" i="0">
                <a:solidFill>
                  <a:srgbClr val="FFF7E8"/>
                </a:solidFill>
                <a:latin typeface="Georgia"/>
                <a:ea typeface="Georgia"/>
                <a:cs typeface="Georgia"/>
              </a:defRPr>
            </a:pPr>
            <a:r>
              <a:rPr sz="3300" b="1" i="0">
                <a:solidFill>
                  <a:srgbClr val="FFF7E8"/>
                </a:solidFill>
                <a:latin typeface="Georgia"/>
                <a:ea typeface="Georgia"/>
                <a:cs typeface="Georgia"/>
              </a:rPr>
              <a:t>Лист персонажа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0DC4BD1A-D071-46A0-BF51-84D7D275823E}"/>
              </a:ext>
            </a:extLst>
          </p:cNvPr>
          <p:cNvSpPr>
            <a:spLocks noGrp="1"/>
          </p:cNvSpPr>
          <p:nvPr/>
        </p:nvSpPr>
        <p:spPr>
          <a:xfrm>
            <a:off x="666750" y="1390650"/>
            <a:ext cx="8096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>
              <a:defRPr sz="1650" b="0" i="0">
                <a:solidFill>
                  <a:srgbClr val="D5C4A0"/>
                </a:solidFill>
                <a:latin typeface="Georgia"/>
                <a:ea typeface="Georgia"/>
                <a:cs typeface="Georgia"/>
              </a:defRPr>
            </a:pPr>
            <a:r>
              <a:rPr sz="1650" b="0" i="0">
                <a:solidFill>
                  <a:srgbClr val="D5C4A0"/>
                </a:solidFill>
                <a:latin typeface="Georgia"/>
                <a:ea typeface="Georgia"/>
                <a:cs typeface="Georgia"/>
              </a:rPr>
              <a:t>Игровые блоки PfP в web и desktop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948F0D45-6399-4ECA-BEBE-8A7986715B00}"/>
              </a:ext>
            </a:extLst>
          </p:cNvPr>
          <p:cNvSpPr>
            <a:spLocks noGrp="1"/>
          </p:cNvSpPr>
          <p:nvPr/>
        </p:nvSpPr>
        <p:spPr>
          <a:xfrm>
            <a:off x="666750" y="1943100"/>
            <a:ext cx="10858500" cy="9525"/>
          </a:xfrm>
          <a:prstGeom prst="rect">
            <a:avLst/>
          </a:prstGeom>
          <a:solidFill>
            <a:srgbClr val="5A4522"/>
          </a:solidFill>
          <a:ln w="0">
            <a:solidFill>
              <a:srgbClr val="5A4522"/>
            </a:solidFill>
            <a:prstDash val="solid"/>
          </a:ln>
        </p:spPr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0432E940-49B3-464E-BFA7-DE00098F162E}"/>
              </a:ext>
            </a:extLst>
          </p:cNvPr>
          <p:cNvSpPr>
            <a:spLocks noGrp="1"/>
          </p:cNvSpPr>
          <p:nvPr/>
        </p:nvSpPr>
        <p:spPr>
          <a:xfrm>
            <a:off x="666750" y="2238375"/>
            <a:ext cx="9906000" cy="3333750"/>
          </a:xfrm>
          <a:prstGeom prst="rect">
            <a:avLst/>
          </a:prstGeom>
          <a:solidFill>
            <a:srgbClr val="11100C"/>
          </a:solidFill>
          <a:ln w="9525">
            <a:solidFill>
              <a:srgbClr val="5A4522"/>
            </a:solidFill>
            <a:prstDash val="solid"/>
          </a:ln>
        </p:spPr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36D094F3-B38E-40DF-AA0F-D2450FA13143}"/>
              </a:ext>
            </a:extLst>
          </p:cNvPr>
          <p:cNvSpPr>
            <a:spLocks noGrp="1"/>
          </p:cNvSpPr>
          <p:nvPr/>
        </p:nvSpPr>
        <p:spPr>
          <a:xfrm>
            <a:off x="1000125" y="2619375"/>
            <a:ext cx="2000250" cy="742950"/>
          </a:xfrm>
          <a:prstGeom prst="rect">
            <a:avLst/>
          </a:prstGeom>
          <a:solidFill>
            <a:srgbClr val="201D15"/>
          </a:solidFill>
          <a:ln w="9525">
            <a:solidFill>
              <a:srgbClr val="5A4522"/>
            </a:solidFill>
            <a:prstDash val="solid"/>
          </a:ln>
        </p:spPr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566C50BF-50E8-4867-8D66-7D2B159F1318}"/>
              </a:ext>
            </a:extLst>
          </p:cNvPr>
          <p:cNvSpPr>
            <a:spLocks noGrp="1"/>
          </p:cNvSpPr>
          <p:nvPr/>
        </p:nvSpPr>
        <p:spPr>
          <a:xfrm>
            <a:off x="1152525" y="2809875"/>
            <a:ext cx="16954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93333"/>
          </a:bodyPr>
          <a:lstStyle/>
          <a:p>
            <a:pPr>
              <a:defRPr sz="1500" b="1" i="0">
                <a:solidFill>
                  <a:srgbClr val="D6A84D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D6A84D"/>
                </a:solidFill>
                <a:latin typeface="Arial"/>
                <a:ea typeface="Arial"/>
                <a:cs typeface="Arial"/>
              </a:rPr>
              <a:t>Character Info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0ED04F6A-4FF3-436A-98D0-CD17DCEBB27B}"/>
              </a:ext>
            </a:extLst>
          </p:cNvPr>
          <p:cNvSpPr>
            <a:spLocks noGrp="1"/>
          </p:cNvSpPr>
          <p:nvPr/>
        </p:nvSpPr>
        <p:spPr>
          <a:xfrm>
            <a:off x="3381375" y="2619375"/>
            <a:ext cx="2000250" cy="742950"/>
          </a:xfrm>
          <a:prstGeom prst="rect">
            <a:avLst/>
          </a:prstGeom>
          <a:solidFill>
            <a:srgbClr val="201D15"/>
          </a:solidFill>
          <a:ln w="9525">
            <a:solidFill>
              <a:srgbClr val="5A4522"/>
            </a:solidFill>
            <a:prstDash val="solid"/>
          </a:ln>
        </p:spPr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4F2D1223-827C-487B-9B03-653683A9DEBC}"/>
              </a:ext>
            </a:extLst>
          </p:cNvPr>
          <p:cNvSpPr>
            <a:spLocks noGrp="1"/>
          </p:cNvSpPr>
          <p:nvPr/>
        </p:nvSpPr>
        <p:spPr>
          <a:xfrm>
            <a:off x="3533775" y="2809875"/>
            <a:ext cx="16954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59282"/>
          </a:bodyPr>
          <a:lstStyle/>
          <a:p>
            <a:pPr>
              <a:defRPr sz="1500" b="1" i="0">
                <a:solidFill>
                  <a:srgbClr val="D6A84D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D6A84D"/>
                </a:solidFill>
                <a:latin typeface="Arial"/>
                <a:ea typeface="Arial"/>
                <a:cs typeface="Arial"/>
              </a:rPr>
              <a:t>Defence / Dodge / Blessings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95755DDB-DC64-4C72-88EB-626AEABD9544}"/>
              </a:ext>
            </a:extLst>
          </p:cNvPr>
          <p:cNvSpPr>
            <a:spLocks noGrp="1"/>
          </p:cNvSpPr>
          <p:nvPr/>
        </p:nvSpPr>
        <p:spPr>
          <a:xfrm>
            <a:off x="5762625" y="2619375"/>
            <a:ext cx="2000250" cy="742950"/>
          </a:xfrm>
          <a:prstGeom prst="rect">
            <a:avLst/>
          </a:prstGeom>
          <a:solidFill>
            <a:srgbClr val="201D15"/>
          </a:solidFill>
          <a:ln w="9525">
            <a:solidFill>
              <a:srgbClr val="5A4522"/>
            </a:solidFill>
            <a:prstDash val="solid"/>
          </a:ln>
        </p:spPr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F546D676-9724-4E3F-9306-EC359077BCBB}"/>
              </a:ext>
            </a:extLst>
          </p:cNvPr>
          <p:cNvSpPr>
            <a:spLocks noGrp="1"/>
          </p:cNvSpPr>
          <p:nvPr/>
        </p:nvSpPr>
        <p:spPr>
          <a:xfrm>
            <a:off x="5915025" y="2809875"/>
            <a:ext cx="16954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83502"/>
          </a:bodyPr>
          <a:lstStyle/>
          <a:p>
            <a:pPr>
              <a:defRPr sz="1500" b="1" i="0">
                <a:solidFill>
                  <a:srgbClr val="D6A84D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D6A84D"/>
                </a:solidFill>
                <a:latin typeface="Arial"/>
                <a:ea typeface="Arial"/>
                <a:cs typeface="Arial"/>
              </a:rPr>
              <a:t>Health + части тела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34A43B9D-938E-4CDA-A6DD-F5E20BC07B03}"/>
              </a:ext>
            </a:extLst>
          </p:cNvPr>
          <p:cNvSpPr>
            <a:spLocks noGrp="1"/>
          </p:cNvSpPr>
          <p:nvPr/>
        </p:nvSpPr>
        <p:spPr>
          <a:xfrm>
            <a:off x="8143875" y="2619375"/>
            <a:ext cx="2000250" cy="742950"/>
          </a:xfrm>
          <a:prstGeom prst="rect">
            <a:avLst/>
          </a:prstGeom>
          <a:solidFill>
            <a:srgbClr val="201D15"/>
          </a:solidFill>
          <a:ln w="9525">
            <a:solidFill>
              <a:srgbClr val="5A4522"/>
            </a:solidFill>
            <a:prstDash val="solid"/>
          </a:ln>
        </p:spPr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091FBB2C-6BD5-4AE2-88F6-93055D3077A2}"/>
              </a:ext>
            </a:extLst>
          </p:cNvPr>
          <p:cNvSpPr>
            <a:spLocks noGrp="1"/>
          </p:cNvSpPr>
          <p:nvPr/>
        </p:nvSpPr>
        <p:spPr>
          <a:xfrm>
            <a:off x="8296275" y="2809875"/>
            <a:ext cx="16954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93333"/>
          </a:bodyPr>
          <a:lstStyle/>
          <a:p>
            <a:pPr>
              <a:defRPr sz="1500" b="1" i="0">
                <a:solidFill>
                  <a:srgbClr val="D6A84D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D6A84D"/>
                </a:solidFill>
                <a:latin typeface="Arial"/>
                <a:ea typeface="Arial"/>
                <a:cs typeface="Arial"/>
              </a:rPr>
              <a:t>Stats and Skills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EB2F3DB4-A20B-4877-A5F1-6B80277DB602}"/>
              </a:ext>
            </a:extLst>
          </p:cNvPr>
          <p:cNvSpPr>
            <a:spLocks noGrp="1"/>
          </p:cNvSpPr>
          <p:nvPr/>
        </p:nvSpPr>
        <p:spPr>
          <a:xfrm>
            <a:off x="1000125" y="3857625"/>
            <a:ext cx="2000250" cy="742950"/>
          </a:xfrm>
          <a:prstGeom prst="rect">
            <a:avLst/>
          </a:prstGeom>
          <a:solidFill>
            <a:srgbClr val="171610"/>
          </a:solidFill>
          <a:ln w="9525">
            <a:solidFill>
              <a:srgbClr val="5A4522"/>
            </a:solidFill>
            <a:prstDash val="solid"/>
          </a:ln>
        </p:spPr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56831172-A144-4216-BDAF-7ADAA68F2F45}"/>
              </a:ext>
            </a:extLst>
          </p:cNvPr>
          <p:cNvSpPr>
            <a:spLocks noGrp="1"/>
          </p:cNvSpPr>
          <p:nvPr/>
        </p:nvSpPr>
        <p:spPr>
          <a:xfrm>
            <a:off x="1152525" y="4048125"/>
            <a:ext cx="16954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93333"/>
          </a:bodyPr>
          <a:lstStyle/>
          <a:p>
            <a:pPr>
              <a:defRPr sz="1500" b="1" i="0">
                <a:solidFill>
                  <a:srgbClr val="FFF7E8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7E8"/>
                </a:solidFill>
                <a:latin typeface="Arial"/>
                <a:ea typeface="Arial"/>
                <a:cs typeface="Arial"/>
              </a:rPr>
              <a:t>Equipment</a:t>
            </a: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585E21EF-5F39-4866-92D8-9D04FDEC9D01}"/>
              </a:ext>
            </a:extLst>
          </p:cNvPr>
          <p:cNvSpPr>
            <a:spLocks noGrp="1"/>
          </p:cNvSpPr>
          <p:nvPr/>
        </p:nvSpPr>
        <p:spPr>
          <a:xfrm>
            <a:off x="3381375" y="3857625"/>
            <a:ext cx="2000250" cy="742950"/>
          </a:xfrm>
          <a:prstGeom prst="rect">
            <a:avLst/>
          </a:prstGeom>
          <a:solidFill>
            <a:srgbClr val="171610"/>
          </a:solidFill>
          <a:ln w="9525">
            <a:solidFill>
              <a:srgbClr val="5A4522"/>
            </a:solidFill>
            <a:prstDash val="solid"/>
          </a:ln>
        </p:spPr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C517F739-84D1-41CD-9907-942CD6EE3FAD}"/>
              </a:ext>
            </a:extLst>
          </p:cNvPr>
          <p:cNvSpPr>
            <a:spLocks noGrp="1"/>
          </p:cNvSpPr>
          <p:nvPr/>
        </p:nvSpPr>
        <p:spPr>
          <a:xfrm>
            <a:off x="3533775" y="4048125"/>
            <a:ext cx="16954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93333"/>
          </a:bodyPr>
          <a:lstStyle/>
          <a:p>
            <a:pPr>
              <a:defRPr sz="1500" b="1" i="0">
                <a:solidFill>
                  <a:srgbClr val="FFF7E8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7E8"/>
                </a:solidFill>
                <a:latin typeface="Arial"/>
                <a:ea typeface="Arial"/>
                <a:cs typeface="Arial"/>
              </a:rPr>
              <a:t>Inventory</a:t>
            </a:r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147C5581-2AC4-4AC6-8BE5-65EFB11644B7}"/>
              </a:ext>
            </a:extLst>
          </p:cNvPr>
          <p:cNvSpPr>
            <a:spLocks noGrp="1"/>
          </p:cNvSpPr>
          <p:nvPr/>
        </p:nvSpPr>
        <p:spPr>
          <a:xfrm>
            <a:off x="5762625" y="3857625"/>
            <a:ext cx="2000250" cy="742950"/>
          </a:xfrm>
          <a:prstGeom prst="rect">
            <a:avLst/>
          </a:prstGeom>
          <a:solidFill>
            <a:srgbClr val="171610"/>
          </a:solidFill>
          <a:ln w="9525">
            <a:solidFill>
              <a:srgbClr val="5A4522"/>
            </a:solidFill>
            <a:prstDash val="solid"/>
          </a:ln>
        </p:spPr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D75191DB-D1C6-491C-B76E-E756819A7EE8}"/>
              </a:ext>
            </a:extLst>
          </p:cNvPr>
          <p:cNvSpPr>
            <a:spLocks noGrp="1"/>
          </p:cNvSpPr>
          <p:nvPr/>
        </p:nvSpPr>
        <p:spPr>
          <a:xfrm>
            <a:off x="5915025" y="4048125"/>
            <a:ext cx="16954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93333"/>
          </a:bodyPr>
          <a:lstStyle/>
          <a:p>
            <a:pPr>
              <a:defRPr sz="1500" b="1" i="0">
                <a:solidFill>
                  <a:srgbClr val="FFF7E8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7E8"/>
                </a:solidFill>
                <a:latin typeface="Arial"/>
                <a:ea typeface="Arial"/>
                <a:cs typeface="Arial"/>
              </a:rPr>
              <a:t>Spells</a:t>
            </a:r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FB792B67-85BC-4719-B8A7-97DD8F2EA93A}"/>
              </a:ext>
            </a:extLst>
          </p:cNvPr>
          <p:cNvSpPr>
            <a:spLocks noGrp="1"/>
          </p:cNvSpPr>
          <p:nvPr/>
        </p:nvSpPr>
        <p:spPr>
          <a:xfrm>
            <a:off x="8143875" y="3857625"/>
            <a:ext cx="2000250" cy="742950"/>
          </a:xfrm>
          <a:prstGeom prst="rect">
            <a:avLst/>
          </a:prstGeom>
          <a:solidFill>
            <a:srgbClr val="171610"/>
          </a:solidFill>
          <a:ln w="9525">
            <a:solidFill>
              <a:srgbClr val="5A4522"/>
            </a:solidFill>
            <a:prstDash val="solid"/>
          </a:ln>
        </p:spPr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B46886A9-B964-4A3B-B98D-A85413409E80}"/>
              </a:ext>
            </a:extLst>
          </p:cNvPr>
          <p:cNvSpPr>
            <a:spLocks noGrp="1"/>
          </p:cNvSpPr>
          <p:nvPr/>
        </p:nvSpPr>
        <p:spPr>
          <a:xfrm>
            <a:off x="8296275" y="4048125"/>
            <a:ext cx="16954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93333"/>
          </a:bodyPr>
          <a:lstStyle/>
          <a:p>
            <a:pPr>
              <a:defRPr sz="1500" b="1" i="0">
                <a:solidFill>
                  <a:srgbClr val="FFF7E8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7E8"/>
                </a:solidFill>
                <a:latin typeface="Arial"/>
                <a:ea typeface="Arial"/>
                <a:cs typeface="Arial"/>
              </a:rPr>
              <a:t>Additional Info</a:t>
            </a:r>
          </a:p>
        </p:txBody>
      </p:sp>
    </p:spTree>
    <p:extLst>
      <p:ext uri="{BB962C8B-B14F-4D97-AF65-F5344CB8AC3E}">
        <p14:creationId xmlns:p14="http://schemas.microsoft.com/office/powerpoint/2010/main" val="6228257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6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876C93FF-706A-44C9-A6DE-29E3979A126B}"/>
              </a:ext>
            </a:extLst>
          </p:cNvPr>
          <p:cNvSpPr>
            <a:spLocks noGrp="1"/>
          </p:cNvSpPr>
          <p:nvPr/>
        </p:nvSpPr>
        <p:spPr>
          <a:xfrm>
            <a:off x="10858500" y="6419850"/>
            <a:ext cx="666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85714"/>
          </a:bodyPr>
          <a:lstStyle/>
          <a:p>
            <a:pPr>
              <a:defRPr sz="1050" b="0" i="0">
                <a:solidFill>
                  <a:srgbClr val="D5C4A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D5C4A0"/>
                </a:solidFill>
                <a:latin typeface="Arial"/>
                <a:ea typeface="Arial"/>
                <a:cs typeface="Arial"/>
              </a:rPr>
              <a:t>10 / 13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C753CF34-F14D-42DC-BD02-FFF7A109BE20}"/>
              </a:ext>
            </a:extLst>
          </p:cNvPr>
          <p:cNvSpPr>
            <a:spLocks noGrp="1"/>
          </p:cNvSpPr>
          <p:nvPr/>
        </p:nvSpPr>
        <p:spPr>
          <a:xfrm>
            <a:off x="666750" y="266700"/>
            <a:ext cx="2476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>
              <a:defRPr sz="1200" b="1" i="0">
                <a:solidFill>
                  <a:srgbClr val="D6A84D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D6A84D"/>
                </a:solidFill>
                <a:latin typeface="Arial"/>
                <a:ea typeface="Arial"/>
                <a:cs typeface="Arial"/>
              </a:rPr>
              <a:t>PFP COMPANION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7B351C3F-BBA8-4144-BC99-C451B841714C}"/>
              </a:ext>
            </a:extLst>
          </p:cNvPr>
          <p:cNvSpPr>
            <a:spLocks noGrp="1"/>
          </p:cNvSpPr>
          <p:nvPr/>
        </p:nvSpPr>
        <p:spPr>
          <a:xfrm>
            <a:off x="666750" y="742950"/>
            <a:ext cx="74295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>
              <a:defRPr sz="3300" b="1" i="0">
                <a:solidFill>
                  <a:srgbClr val="FFF7E8"/>
                </a:solidFill>
                <a:latin typeface="Georgia"/>
                <a:ea typeface="Georgia"/>
                <a:cs typeface="Georgia"/>
              </a:defRPr>
            </a:pPr>
            <a:r>
              <a:rPr sz="3300" b="1" i="0">
                <a:solidFill>
                  <a:srgbClr val="FFF7E8"/>
                </a:solidFill>
                <a:latin typeface="Georgia"/>
                <a:ea typeface="Georgia"/>
                <a:cs typeface="Georgia"/>
              </a:rPr>
              <a:t>Инвентарь и заклинания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19CE021F-AC9C-46A4-BC64-FB0D51C398B3}"/>
              </a:ext>
            </a:extLst>
          </p:cNvPr>
          <p:cNvSpPr>
            <a:spLocks noGrp="1"/>
          </p:cNvSpPr>
          <p:nvPr/>
        </p:nvSpPr>
        <p:spPr>
          <a:xfrm>
            <a:off x="666750" y="1390650"/>
            <a:ext cx="8096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>
              <a:defRPr sz="1650" b="0" i="0">
                <a:solidFill>
                  <a:srgbClr val="D5C4A0"/>
                </a:solidFill>
                <a:latin typeface="Georgia"/>
                <a:ea typeface="Georgia"/>
                <a:cs typeface="Georgia"/>
              </a:defRPr>
            </a:pPr>
            <a:r>
              <a:rPr sz="1650" b="0" i="0">
                <a:solidFill>
                  <a:srgbClr val="D5C4A0"/>
                </a:solidFill>
                <a:latin typeface="Georgia"/>
                <a:ea typeface="Georgia"/>
                <a:cs typeface="Georgia"/>
              </a:rPr>
              <a:t>Предметы, экипировка, торговля и карточки магии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39C83753-D04E-4971-A50C-2C61268CA7BE}"/>
              </a:ext>
            </a:extLst>
          </p:cNvPr>
          <p:cNvSpPr>
            <a:spLocks noGrp="1"/>
          </p:cNvSpPr>
          <p:nvPr/>
        </p:nvSpPr>
        <p:spPr>
          <a:xfrm>
            <a:off x="666750" y="1943100"/>
            <a:ext cx="10858500" cy="9525"/>
          </a:xfrm>
          <a:prstGeom prst="rect">
            <a:avLst/>
          </a:prstGeom>
          <a:solidFill>
            <a:srgbClr val="5A4522"/>
          </a:solidFill>
          <a:ln w="0">
            <a:solidFill>
              <a:srgbClr val="5A4522"/>
            </a:solidFill>
            <a:prstDash val="solid"/>
          </a:ln>
        </p:spPr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06FEAED6-AA92-44D5-AA70-33251730EE95}"/>
              </a:ext>
            </a:extLst>
          </p:cNvPr>
          <p:cNvSpPr>
            <a:spLocks noGrp="1"/>
          </p:cNvSpPr>
          <p:nvPr/>
        </p:nvSpPr>
        <p:spPr>
          <a:xfrm>
            <a:off x="666750" y="2286000"/>
            <a:ext cx="4857750" cy="2952750"/>
          </a:xfrm>
          <a:prstGeom prst="rect">
            <a:avLst/>
          </a:prstGeom>
          <a:solidFill>
            <a:srgbClr val="11100C"/>
          </a:solidFill>
          <a:ln w="9525">
            <a:solidFill>
              <a:srgbClr val="5A4522"/>
            </a:solidFill>
            <a:prstDash val="solid"/>
          </a:ln>
        </p:spPr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32A569D3-0FFB-43C8-BBE6-A53927668C4F}"/>
              </a:ext>
            </a:extLst>
          </p:cNvPr>
          <p:cNvSpPr>
            <a:spLocks noGrp="1"/>
          </p:cNvSpPr>
          <p:nvPr/>
        </p:nvSpPr>
        <p:spPr>
          <a:xfrm>
            <a:off x="952500" y="2590800"/>
            <a:ext cx="4191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73333"/>
          </a:bodyPr>
          <a:lstStyle/>
          <a:p>
            <a:pPr>
              <a:defRPr sz="2250" b="1" i="0">
                <a:solidFill>
                  <a:srgbClr val="FFF7E8"/>
                </a:solidFill>
                <a:latin typeface="Georgia"/>
                <a:ea typeface="Georgia"/>
                <a:cs typeface="Georgia"/>
              </a:defRPr>
            </a:pPr>
            <a:r>
              <a:rPr sz="2250" b="1" i="0">
                <a:solidFill>
                  <a:srgbClr val="FFF7E8"/>
                </a:solidFill>
                <a:latin typeface="Georgia"/>
                <a:ea typeface="Georgia"/>
                <a:cs typeface="Georgia"/>
              </a:rPr>
              <a:t>Инвентарь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67B0BFDB-555F-4EB7-B870-B570AD74CFE6}"/>
              </a:ext>
            </a:extLst>
          </p:cNvPr>
          <p:cNvSpPr>
            <a:spLocks noGrp="1"/>
          </p:cNvSpPr>
          <p:nvPr/>
        </p:nvSpPr>
        <p:spPr>
          <a:xfrm>
            <a:off x="952500" y="3143250"/>
            <a:ext cx="419100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>
              <a:defRPr sz="1350" b="0" i="0">
                <a:solidFill>
                  <a:srgbClr val="FFF7E8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FFF7E8"/>
                </a:solidFill>
                <a:latin typeface="Arial"/>
                <a:ea typeface="Arial"/>
                <a:cs typeface="Arial"/>
              </a:rPr>
              <a:t>• 10 слотов в строке</a:t>
            </a:r>
          </a:p>
          <a:p>
            <a:pPr>
              <a:defRPr sz="1350" b="0" i="0">
                <a:solidFill>
                  <a:srgbClr val="FFF7E8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FFF7E8"/>
                </a:solidFill>
                <a:latin typeface="Arial"/>
                <a:ea typeface="Arial"/>
                <a:cs typeface="Arial"/>
              </a:rPr>
              <a:t>• стабильные ячейки с изображениями</a:t>
            </a:r>
          </a:p>
          <a:p>
            <a:pPr>
              <a:defRPr sz="1350" b="0" i="0">
                <a:solidFill>
                  <a:srgbClr val="FFF7E8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FFF7E8"/>
                </a:solidFill>
                <a:latin typeface="Arial"/>
                <a:ea typeface="Arial"/>
                <a:cs typeface="Arial"/>
              </a:rPr>
              <a:t>• создание предмета из пустой ячейки</a:t>
            </a:r>
          </a:p>
          <a:p>
            <a:pPr>
              <a:defRPr sz="1350" b="0" i="0">
                <a:solidFill>
                  <a:srgbClr val="FFF7E8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FFF7E8"/>
                </a:solidFill>
                <a:latin typeface="Arial"/>
                <a:ea typeface="Arial"/>
                <a:cs typeface="Arial"/>
              </a:rPr>
              <a:t>• equip / unequip / sell / throw away</a:t>
            </a:r>
          </a:p>
          <a:p>
            <a:pPr>
              <a:defRPr sz="1350" b="0" i="0">
                <a:solidFill>
                  <a:srgbClr val="FFF7E8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FFF7E8"/>
                </a:solidFill>
                <a:latin typeface="Arial"/>
                <a:ea typeface="Arial"/>
                <a:cs typeface="Arial"/>
              </a:rPr>
              <a:t>• drag-and-drop между слотами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447A4974-9139-4B49-9293-D3525FD394A0}"/>
              </a:ext>
            </a:extLst>
          </p:cNvPr>
          <p:cNvSpPr>
            <a:spLocks noGrp="1"/>
          </p:cNvSpPr>
          <p:nvPr/>
        </p:nvSpPr>
        <p:spPr>
          <a:xfrm>
            <a:off x="6286500" y="2286000"/>
            <a:ext cx="4857750" cy="2952750"/>
          </a:xfrm>
          <a:prstGeom prst="rect">
            <a:avLst/>
          </a:prstGeom>
          <a:solidFill>
            <a:srgbClr val="201D15"/>
          </a:solidFill>
          <a:ln w="9525">
            <a:solidFill>
              <a:srgbClr val="5A4522"/>
            </a:solidFill>
            <a:prstDash val="solid"/>
          </a:ln>
        </p:spPr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9A17265F-DEDA-46E5-9E5C-8A3408EF965C}"/>
              </a:ext>
            </a:extLst>
          </p:cNvPr>
          <p:cNvSpPr>
            <a:spLocks noGrp="1"/>
          </p:cNvSpPr>
          <p:nvPr/>
        </p:nvSpPr>
        <p:spPr>
          <a:xfrm>
            <a:off x="6572250" y="2590800"/>
            <a:ext cx="4191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73333"/>
          </a:bodyPr>
          <a:lstStyle/>
          <a:p>
            <a:pPr>
              <a:defRPr sz="2250" b="1" i="0">
                <a:solidFill>
                  <a:srgbClr val="FFF7E8"/>
                </a:solidFill>
                <a:latin typeface="Georgia"/>
                <a:ea typeface="Georgia"/>
                <a:cs typeface="Georgia"/>
              </a:defRPr>
            </a:pPr>
            <a:r>
              <a:rPr sz="2250" b="1" i="0">
                <a:solidFill>
                  <a:srgbClr val="FFF7E8"/>
                </a:solidFill>
                <a:latin typeface="Georgia"/>
                <a:ea typeface="Georgia"/>
                <a:cs typeface="Georgia"/>
              </a:rPr>
              <a:t>Заклинания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3AF7E3AF-05FD-48AD-9D0D-81B061A22049}"/>
              </a:ext>
            </a:extLst>
          </p:cNvPr>
          <p:cNvSpPr>
            <a:spLocks noGrp="1"/>
          </p:cNvSpPr>
          <p:nvPr/>
        </p:nvSpPr>
        <p:spPr>
          <a:xfrm>
            <a:off x="6572250" y="3143250"/>
            <a:ext cx="409575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>
              <a:defRPr sz="1350" b="0" i="0">
                <a:solidFill>
                  <a:srgbClr val="FFF7E8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FFF7E8"/>
                </a:solidFill>
                <a:latin typeface="Arial"/>
                <a:ea typeface="Arial"/>
                <a:cs typeface="Arial"/>
              </a:rPr>
              <a:t>• карточка с изображением в квадрате</a:t>
            </a:r>
          </a:p>
          <a:p>
            <a:pPr>
              <a:defRPr sz="1350" b="0" i="0">
                <a:solidFill>
                  <a:srgbClr val="FFF7E8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FFF7E8"/>
                </a:solidFill>
                <a:latin typeface="Arial"/>
                <a:ea typeface="Arial"/>
                <a:cs typeface="Arial"/>
              </a:rPr>
              <a:t>• стилизованное окно создания</a:t>
            </a:r>
          </a:p>
          <a:p>
            <a:pPr>
              <a:defRPr sz="1350" b="0" i="0">
                <a:solidFill>
                  <a:srgbClr val="FFF7E8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FFF7E8"/>
                </a:solidFill>
                <a:latin typeface="Arial"/>
                <a:ea typeface="Arial"/>
                <a:cs typeface="Arial"/>
              </a:rPr>
              <a:t>• редактирование после добавления</a:t>
            </a:r>
          </a:p>
          <a:p>
            <a:pPr>
              <a:defRPr sz="1350" b="0" i="0">
                <a:solidFill>
                  <a:srgbClr val="FFF7E8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FFF7E8"/>
                </a:solidFill>
                <a:latin typeface="Arial"/>
                <a:ea typeface="Arial"/>
                <a:cs typeface="Arial"/>
              </a:rPr>
              <a:t>• синхронизация account-персонажа</a:t>
            </a:r>
          </a:p>
          <a:p>
            <a:pPr>
              <a:defRPr sz="1350" b="0" i="0">
                <a:solidFill>
                  <a:srgbClr val="FFF7E8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FFF7E8"/>
                </a:solidFill>
                <a:latin typeface="Arial"/>
                <a:ea typeface="Arial"/>
                <a:cs typeface="Arial"/>
              </a:rPr>
              <a:t>• корректный markdown в контенте</a:t>
            </a:r>
          </a:p>
        </p:txBody>
      </p:sp>
    </p:spTree>
    <p:extLst>
      <p:ext uri="{BB962C8B-B14F-4D97-AF65-F5344CB8AC3E}">
        <p14:creationId xmlns:p14="http://schemas.microsoft.com/office/powerpoint/2010/main" val="21046388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6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8DB3F0EB-3DEB-4944-A41B-23B156FEC472}"/>
              </a:ext>
            </a:extLst>
          </p:cNvPr>
          <p:cNvSpPr>
            <a:spLocks noGrp="1"/>
          </p:cNvSpPr>
          <p:nvPr/>
        </p:nvSpPr>
        <p:spPr>
          <a:xfrm>
            <a:off x="10858500" y="6419850"/>
            <a:ext cx="666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85714"/>
          </a:bodyPr>
          <a:lstStyle/>
          <a:p>
            <a:pPr>
              <a:defRPr sz="1050" b="0" i="0">
                <a:solidFill>
                  <a:srgbClr val="D5C4A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D5C4A0"/>
                </a:solidFill>
                <a:latin typeface="Arial"/>
                <a:ea typeface="Arial"/>
                <a:cs typeface="Arial"/>
              </a:rPr>
              <a:t>11 / 13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119F3EEC-FC02-4701-B531-6EA34E7C8601}"/>
              </a:ext>
            </a:extLst>
          </p:cNvPr>
          <p:cNvSpPr>
            <a:spLocks noGrp="1"/>
          </p:cNvSpPr>
          <p:nvPr/>
        </p:nvSpPr>
        <p:spPr>
          <a:xfrm>
            <a:off x="666750" y="266700"/>
            <a:ext cx="2476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>
              <a:defRPr sz="1200" b="1" i="0">
                <a:solidFill>
                  <a:srgbClr val="D6A84D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D6A84D"/>
                </a:solidFill>
                <a:latin typeface="Arial"/>
                <a:ea typeface="Arial"/>
                <a:cs typeface="Arial"/>
              </a:rPr>
              <a:t>PFP COMPANION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25AC78A4-B377-433C-AD6D-3235A9452C76}"/>
              </a:ext>
            </a:extLst>
          </p:cNvPr>
          <p:cNvSpPr>
            <a:spLocks noGrp="1"/>
          </p:cNvSpPr>
          <p:nvPr/>
        </p:nvSpPr>
        <p:spPr>
          <a:xfrm>
            <a:off x="666750" y="742950"/>
            <a:ext cx="74295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>
              <a:defRPr sz="3300" b="1" i="0">
                <a:solidFill>
                  <a:srgbClr val="FFF7E8"/>
                </a:solidFill>
                <a:latin typeface="Georgia"/>
                <a:ea typeface="Georgia"/>
                <a:cs typeface="Georgia"/>
              </a:defRPr>
            </a:pPr>
            <a:r>
              <a:rPr sz="3300" b="1" i="0">
                <a:solidFill>
                  <a:srgbClr val="FFF7E8"/>
                </a:solidFill>
                <a:latin typeface="Georgia"/>
                <a:ea typeface="Georgia"/>
                <a:cs typeface="Georgia"/>
              </a:rPr>
              <a:t>Лор, справочник и админка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CB5679F6-C2FD-48F0-B678-EC42EA1BD45C}"/>
              </a:ext>
            </a:extLst>
          </p:cNvPr>
          <p:cNvSpPr>
            <a:spLocks noGrp="1"/>
          </p:cNvSpPr>
          <p:nvPr/>
        </p:nvSpPr>
        <p:spPr>
          <a:xfrm>
            <a:off x="666750" y="1390650"/>
            <a:ext cx="8096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>
              <a:defRPr sz="1650" b="0" i="0">
                <a:solidFill>
                  <a:srgbClr val="D5C4A0"/>
                </a:solidFill>
                <a:latin typeface="Georgia"/>
                <a:ea typeface="Georgia"/>
                <a:cs typeface="Georgia"/>
              </a:defRPr>
            </a:pPr>
            <a:r>
              <a:rPr sz="1650" b="0" i="0">
                <a:solidFill>
                  <a:srgbClr val="D5C4A0"/>
                </a:solidFill>
                <a:latin typeface="Georgia"/>
                <a:ea typeface="Georgia"/>
                <a:cs typeface="Georgia"/>
              </a:rPr>
              <a:t>Контент как часть enterprise-сценария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1062EB82-F806-4BBB-949C-0913E6EAAE71}"/>
              </a:ext>
            </a:extLst>
          </p:cNvPr>
          <p:cNvSpPr>
            <a:spLocks noGrp="1"/>
          </p:cNvSpPr>
          <p:nvPr/>
        </p:nvSpPr>
        <p:spPr>
          <a:xfrm>
            <a:off x="666750" y="1943100"/>
            <a:ext cx="10858500" cy="9525"/>
          </a:xfrm>
          <a:prstGeom prst="rect">
            <a:avLst/>
          </a:prstGeom>
          <a:solidFill>
            <a:srgbClr val="5A4522"/>
          </a:solidFill>
          <a:ln w="0">
            <a:solidFill>
              <a:srgbClr val="5A4522"/>
            </a:solidFill>
            <a:prstDash val="solid"/>
          </a:ln>
        </p:spPr>
      </p:sp>
      <p:pic>
        <p:nvPicPr>
          <p:cNvPr id="14" name="Рисунок 1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905000" y="2333625"/>
            <a:ext cx="1535152" cy="4097163"/>
          </a:xfrm>
          <a:prstGeom prst="rect">
            <a:avLst/>
          </a:prstGeom>
        </p:spPr>
      </p:pic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C8F629CB-7028-4B6A-B433-4B7169E4C18E}"/>
              </a:ext>
            </a:extLst>
          </p:cNvPr>
          <p:cNvSpPr>
            <a:spLocks noGrp="1"/>
          </p:cNvSpPr>
          <p:nvPr/>
        </p:nvSpPr>
        <p:spPr>
          <a:xfrm>
            <a:off x="5905500" y="2333625"/>
            <a:ext cx="5048250" cy="2857500"/>
          </a:xfrm>
          <a:prstGeom prst="rect">
            <a:avLst/>
          </a:prstGeom>
          <a:solidFill>
            <a:srgbClr val="11100C"/>
          </a:solidFill>
          <a:ln w="9525">
            <a:solidFill>
              <a:srgbClr val="5A4522"/>
            </a:solidFill>
            <a:prstDash val="solid"/>
          </a:ln>
        </p:spPr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A586A3D8-3364-4A5C-A378-1396562A5450}"/>
              </a:ext>
            </a:extLst>
          </p:cNvPr>
          <p:cNvSpPr>
            <a:spLocks noGrp="1"/>
          </p:cNvSpPr>
          <p:nvPr/>
        </p:nvSpPr>
        <p:spPr>
          <a:xfrm>
            <a:off x="6238875" y="2714625"/>
            <a:ext cx="4381500" cy="1714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>
              <a:defRPr sz="1425" b="0" i="0">
                <a:solidFill>
                  <a:srgbClr val="FFF7E8"/>
                </a:solidFill>
                <a:latin typeface="Arial"/>
                <a:ea typeface="Arial"/>
                <a:cs typeface="Arial"/>
              </a:defRPr>
            </a:pPr>
            <a:r>
              <a:rPr sz="1425" b="0" i="0" dirty="0">
                <a:solidFill>
                  <a:srgbClr val="FFF7E8"/>
                </a:solidFill>
                <a:latin typeface="Arial"/>
                <a:ea typeface="Arial"/>
                <a:cs typeface="Arial"/>
              </a:rPr>
              <a:t>• </a:t>
            </a:r>
            <a:r>
              <a:rPr sz="1425" b="0" i="0" dirty="0" err="1">
                <a:solidFill>
                  <a:srgbClr val="FFF7E8"/>
                </a:solidFill>
                <a:latin typeface="Arial"/>
                <a:ea typeface="Arial"/>
                <a:cs typeface="Arial"/>
              </a:rPr>
              <a:t>категории</a:t>
            </a:r>
            <a:r>
              <a:rPr sz="1425" b="0" i="0" dirty="0">
                <a:solidFill>
                  <a:srgbClr val="FFF7E8"/>
                </a:solidFill>
                <a:latin typeface="Arial"/>
                <a:ea typeface="Arial"/>
                <a:cs typeface="Arial"/>
              </a:rPr>
              <a:t> </a:t>
            </a:r>
            <a:r>
              <a:rPr sz="1425" b="0" i="0" dirty="0" err="1">
                <a:solidFill>
                  <a:srgbClr val="FFF7E8"/>
                </a:solidFill>
                <a:latin typeface="Arial"/>
                <a:ea typeface="Arial"/>
                <a:cs typeface="Arial"/>
              </a:rPr>
              <a:t>открываются</a:t>
            </a:r>
            <a:r>
              <a:rPr sz="1425" b="0" i="0" dirty="0">
                <a:solidFill>
                  <a:srgbClr val="FFF7E8"/>
                </a:solidFill>
                <a:latin typeface="Arial"/>
                <a:ea typeface="Arial"/>
                <a:cs typeface="Arial"/>
              </a:rPr>
              <a:t> </a:t>
            </a:r>
            <a:r>
              <a:rPr sz="1425" b="0" i="0" dirty="0" err="1">
                <a:solidFill>
                  <a:srgbClr val="FFF7E8"/>
                </a:solidFill>
                <a:latin typeface="Arial"/>
                <a:ea typeface="Arial"/>
                <a:cs typeface="Arial"/>
              </a:rPr>
              <a:t>как</a:t>
            </a:r>
            <a:r>
              <a:rPr sz="1425" b="0" i="0" dirty="0">
                <a:solidFill>
                  <a:srgbClr val="FFF7E8"/>
                </a:solidFill>
                <a:latin typeface="Arial"/>
                <a:ea typeface="Arial"/>
                <a:cs typeface="Arial"/>
              </a:rPr>
              <a:t> </a:t>
            </a:r>
            <a:r>
              <a:rPr sz="1425" b="0" i="0" dirty="0" err="1">
                <a:solidFill>
                  <a:srgbClr val="FFF7E8"/>
                </a:solidFill>
                <a:latin typeface="Arial"/>
                <a:ea typeface="Arial"/>
                <a:cs typeface="Arial"/>
              </a:rPr>
              <a:t>статьи</a:t>
            </a:r>
            <a:endParaRPr sz="1425" b="0" i="0" dirty="0">
              <a:solidFill>
                <a:srgbClr val="FFF7E8"/>
              </a:solidFill>
              <a:latin typeface="Arial"/>
              <a:ea typeface="Arial"/>
              <a:cs typeface="Arial"/>
            </a:endParaRPr>
          </a:p>
          <a:p>
            <a:pPr>
              <a:defRPr sz="1425" b="0" i="0">
                <a:solidFill>
                  <a:srgbClr val="FFF7E8"/>
                </a:solidFill>
                <a:latin typeface="Arial"/>
                <a:ea typeface="Arial"/>
                <a:cs typeface="Arial"/>
              </a:defRPr>
            </a:pPr>
            <a:r>
              <a:rPr sz="1425" b="0" i="0" dirty="0">
                <a:solidFill>
                  <a:srgbClr val="FFF7E8"/>
                </a:solidFill>
                <a:latin typeface="Arial"/>
                <a:ea typeface="Arial"/>
                <a:cs typeface="Arial"/>
              </a:rPr>
              <a:t>• </a:t>
            </a:r>
            <a:r>
              <a:rPr sz="1425" b="0" i="0" dirty="0" err="1">
                <a:solidFill>
                  <a:srgbClr val="FFF7E8"/>
                </a:solidFill>
                <a:latin typeface="Arial"/>
                <a:ea typeface="Arial"/>
                <a:cs typeface="Arial"/>
              </a:rPr>
              <a:t>контент</a:t>
            </a:r>
            <a:r>
              <a:rPr sz="1425" b="0" i="0" dirty="0">
                <a:solidFill>
                  <a:srgbClr val="FFF7E8"/>
                </a:solidFill>
                <a:latin typeface="Arial"/>
                <a:ea typeface="Arial"/>
                <a:cs typeface="Arial"/>
              </a:rPr>
              <a:t> </a:t>
            </a:r>
            <a:r>
              <a:rPr sz="1425" b="0" i="0" dirty="0" err="1">
                <a:solidFill>
                  <a:srgbClr val="FFF7E8"/>
                </a:solidFill>
                <a:latin typeface="Arial"/>
                <a:ea typeface="Arial"/>
                <a:cs typeface="Arial"/>
              </a:rPr>
              <a:t>хранится</a:t>
            </a:r>
            <a:r>
              <a:rPr sz="1425" b="0" i="0" dirty="0">
                <a:solidFill>
                  <a:srgbClr val="FFF7E8"/>
                </a:solidFill>
                <a:latin typeface="Arial"/>
                <a:ea typeface="Arial"/>
                <a:cs typeface="Arial"/>
              </a:rPr>
              <a:t> в Markdown</a:t>
            </a:r>
          </a:p>
          <a:p>
            <a:pPr>
              <a:defRPr sz="1425" b="0" i="0">
                <a:solidFill>
                  <a:srgbClr val="FFF7E8"/>
                </a:solidFill>
                <a:latin typeface="Arial"/>
                <a:ea typeface="Arial"/>
                <a:cs typeface="Arial"/>
              </a:defRPr>
            </a:pPr>
            <a:r>
              <a:rPr sz="1425" b="0" i="0" dirty="0">
                <a:solidFill>
                  <a:srgbClr val="FFF7E8"/>
                </a:solidFill>
                <a:latin typeface="Arial"/>
                <a:ea typeface="Arial"/>
                <a:cs typeface="Arial"/>
              </a:rPr>
              <a:t>• </a:t>
            </a:r>
            <a:r>
              <a:rPr sz="1425" b="0" i="0" dirty="0" err="1">
                <a:solidFill>
                  <a:srgbClr val="FFF7E8"/>
                </a:solidFill>
                <a:latin typeface="Arial"/>
                <a:ea typeface="Arial"/>
                <a:cs typeface="Arial"/>
              </a:rPr>
              <a:t>админ</a:t>
            </a:r>
            <a:r>
              <a:rPr sz="1425" b="0" i="0" dirty="0">
                <a:solidFill>
                  <a:srgbClr val="FFF7E8"/>
                </a:solidFill>
                <a:latin typeface="Arial"/>
                <a:ea typeface="Arial"/>
                <a:cs typeface="Arial"/>
              </a:rPr>
              <a:t> </a:t>
            </a:r>
            <a:r>
              <a:rPr sz="1425" b="0" i="0" dirty="0" err="1">
                <a:solidFill>
                  <a:srgbClr val="FFF7E8"/>
                </a:solidFill>
                <a:latin typeface="Arial"/>
                <a:ea typeface="Arial"/>
                <a:cs typeface="Arial"/>
              </a:rPr>
              <a:t>может</a:t>
            </a:r>
            <a:r>
              <a:rPr sz="1425" b="0" i="0" dirty="0">
                <a:solidFill>
                  <a:srgbClr val="FFF7E8"/>
                </a:solidFill>
                <a:latin typeface="Arial"/>
                <a:ea typeface="Arial"/>
                <a:cs typeface="Arial"/>
              </a:rPr>
              <a:t> </a:t>
            </a:r>
            <a:r>
              <a:rPr sz="1425" b="0" i="0" dirty="0" err="1">
                <a:solidFill>
                  <a:srgbClr val="FFF7E8"/>
                </a:solidFill>
                <a:latin typeface="Arial"/>
                <a:ea typeface="Arial"/>
                <a:cs typeface="Arial"/>
              </a:rPr>
              <a:t>редактировать</a:t>
            </a:r>
            <a:r>
              <a:rPr sz="1425" b="0" i="0" dirty="0">
                <a:solidFill>
                  <a:srgbClr val="FFF7E8"/>
                </a:solidFill>
                <a:latin typeface="Arial"/>
                <a:ea typeface="Arial"/>
                <a:cs typeface="Arial"/>
              </a:rPr>
              <a:t> Lore и Rule book</a:t>
            </a:r>
          </a:p>
          <a:p>
            <a:pPr>
              <a:defRPr sz="1425" b="0" i="0">
                <a:solidFill>
                  <a:srgbClr val="FFF7E8"/>
                </a:solidFill>
                <a:latin typeface="Arial"/>
                <a:ea typeface="Arial"/>
                <a:cs typeface="Arial"/>
              </a:defRPr>
            </a:pPr>
            <a:r>
              <a:rPr sz="1425" b="0" i="0" dirty="0">
                <a:solidFill>
                  <a:srgbClr val="FFF7E8"/>
                </a:solidFill>
                <a:latin typeface="Arial"/>
                <a:ea typeface="Arial"/>
                <a:cs typeface="Arial"/>
              </a:rPr>
              <a:t>• desktop MVP </a:t>
            </a:r>
            <a:r>
              <a:rPr sz="1425" b="0" i="0" dirty="0" err="1">
                <a:solidFill>
                  <a:srgbClr val="FFF7E8"/>
                </a:solidFill>
                <a:latin typeface="Arial"/>
                <a:ea typeface="Arial"/>
                <a:cs typeface="Arial"/>
              </a:rPr>
              <a:t>использует</a:t>
            </a:r>
            <a:r>
              <a:rPr sz="1425" b="0" i="0" dirty="0">
                <a:solidFill>
                  <a:srgbClr val="FFF7E8"/>
                </a:solidFill>
                <a:latin typeface="Arial"/>
                <a:ea typeface="Arial"/>
                <a:cs typeface="Arial"/>
              </a:rPr>
              <a:t> </a:t>
            </a:r>
            <a:r>
              <a:rPr sz="1425" b="0" i="0" dirty="0" err="1">
                <a:solidFill>
                  <a:srgbClr val="FFF7E8"/>
                </a:solidFill>
                <a:latin typeface="Arial"/>
                <a:ea typeface="Arial"/>
                <a:cs typeface="Arial"/>
              </a:rPr>
              <a:t>встроенный</a:t>
            </a:r>
            <a:r>
              <a:rPr sz="1425" b="0" i="0" dirty="0">
                <a:solidFill>
                  <a:srgbClr val="FFF7E8"/>
                </a:solidFill>
                <a:latin typeface="Arial"/>
                <a:ea typeface="Arial"/>
                <a:cs typeface="Arial"/>
              </a:rPr>
              <a:t> </a:t>
            </a:r>
            <a:r>
              <a:rPr sz="1425" b="0" i="0" dirty="0" err="1">
                <a:solidFill>
                  <a:srgbClr val="FFF7E8"/>
                </a:solidFill>
                <a:latin typeface="Arial"/>
                <a:ea typeface="Arial"/>
                <a:cs typeface="Arial"/>
              </a:rPr>
              <a:t>контент</a:t>
            </a:r>
            <a:endParaRPr sz="1425" b="0" i="0" dirty="0">
              <a:solidFill>
                <a:srgbClr val="FFF7E8"/>
              </a:solidFill>
              <a:latin typeface="Arial"/>
              <a:ea typeface="Arial"/>
              <a:cs typeface="Arial"/>
            </a:endParaRPr>
          </a:p>
          <a:p>
            <a:pPr>
              <a:defRPr sz="1425" b="0" i="0">
                <a:solidFill>
                  <a:srgbClr val="FFF7E8"/>
                </a:solidFill>
                <a:latin typeface="Arial"/>
                <a:ea typeface="Arial"/>
                <a:cs typeface="Arial"/>
              </a:defRPr>
            </a:pPr>
            <a:r>
              <a:rPr sz="1425" b="0" i="0" dirty="0">
                <a:solidFill>
                  <a:srgbClr val="FFF7E8"/>
                </a:solidFill>
                <a:latin typeface="Arial"/>
                <a:ea typeface="Arial"/>
                <a:cs typeface="Arial"/>
              </a:rPr>
              <a:t>• </a:t>
            </a:r>
            <a:r>
              <a:rPr sz="1425" b="0" i="0" dirty="0" err="1">
                <a:solidFill>
                  <a:srgbClr val="FFF7E8"/>
                </a:solidFill>
                <a:latin typeface="Arial"/>
                <a:ea typeface="Arial"/>
                <a:cs typeface="Arial"/>
              </a:rPr>
              <a:t>персонажи</a:t>
            </a:r>
            <a:r>
              <a:rPr sz="1425" b="0" i="0" dirty="0">
                <a:solidFill>
                  <a:srgbClr val="FFF7E8"/>
                </a:solidFill>
                <a:latin typeface="Arial"/>
                <a:ea typeface="Arial"/>
                <a:cs typeface="Arial"/>
              </a:rPr>
              <a:t> </a:t>
            </a:r>
            <a:r>
              <a:rPr sz="1425" b="0" i="0" dirty="0" err="1">
                <a:solidFill>
                  <a:srgbClr val="FFF7E8"/>
                </a:solidFill>
                <a:latin typeface="Arial"/>
                <a:ea typeface="Arial"/>
                <a:cs typeface="Arial"/>
              </a:rPr>
              <a:t>пользователей</a:t>
            </a:r>
            <a:r>
              <a:rPr sz="1425" b="0" i="0" dirty="0">
                <a:solidFill>
                  <a:srgbClr val="FFF7E8"/>
                </a:solidFill>
                <a:latin typeface="Arial"/>
                <a:ea typeface="Arial"/>
                <a:cs typeface="Arial"/>
              </a:rPr>
              <a:t> в </a:t>
            </a:r>
            <a:r>
              <a:rPr sz="1425" b="0" i="0" dirty="0" err="1">
                <a:solidFill>
                  <a:srgbClr val="FFF7E8"/>
                </a:solidFill>
                <a:latin typeface="Arial"/>
                <a:ea typeface="Arial"/>
                <a:cs typeface="Arial"/>
              </a:rPr>
              <a:t>админке</a:t>
            </a:r>
            <a:r>
              <a:rPr sz="1425" b="0" i="0" dirty="0">
                <a:solidFill>
                  <a:srgbClr val="FFF7E8"/>
                </a:solidFill>
                <a:latin typeface="Arial"/>
                <a:ea typeface="Arial"/>
                <a:cs typeface="Arial"/>
              </a:rPr>
              <a:t> </a:t>
            </a:r>
            <a:r>
              <a:rPr sz="1425" b="0" i="0" dirty="0" err="1">
                <a:solidFill>
                  <a:srgbClr val="FFF7E8"/>
                </a:solidFill>
                <a:latin typeface="Arial"/>
                <a:ea typeface="Arial"/>
                <a:cs typeface="Arial"/>
              </a:rPr>
              <a:t>сгруппированы</a:t>
            </a:r>
            <a:r>
              <a:rPr sz="1425" b="0" i="0" dirty="0">
                <a:solidFill>
                  <a:srgbClr val="FFF7E8"/>
                </a:solidFill>
                <a:latin typeface="Arial"/>
                <a:ea typeface="Arial"/>
                <a:cs typeface="Arial"/>
              </a:rPr>
              <a:t> </a:t>
            </a:r>
            <a:r>
              <a:rPr sz="1425" b="0" i="0" dirty="0" err="1">
                <a:solidFill>
                  <a:srgbClr val="FFF7E8"/>
                </a:solidFill>
                <a:latin typeface="Arial"/>
                <a:ea typeface="Arial"/>
                <a:cs typeface="Arial"/>
              </a:rPr>
              <a:t>по</a:t>
            </a:r>
            <a:r>
              <a:rPr sz="1425" b="0" i="0" dirty="0">
                <a:solidFill>
                  <a:srgbClr val="FFF7E8"/>
                </a:solidFill>
                <a:latin typeface="Arial"/>
                <a:ea typeface="Arial"/>
                <a:cs typeface="Arial"/>
              </a:rPr>
              <a:t> email</a:t>
            </a:r>
          </a:p>
        </p:txBody>
      </p:sp>
    </p:spTree>
    <p:extLst>
      <p:ext uri="{BB962C8B-B14F-4D97-AF65-F5344CB8AC3E}">
        <p14:creationId xmlns:p14="http://schemas.microsoft.com/office/powerpoint/2010/main" val="16817557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6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83553A33-4497-4131-85E6-8F3D6DA596F2}"/>
              </a:ext>
            </a:extLst>
          </p:cNvPr>
          <p:cNvSpPr>
            <a:spLocks noGrp="1"/>
          </p:cNvSpPr>
          <p:nvPr/>
        </p:nvSpPr>
        <p:spPr>
          <a:xfrm>
            <a:off x="10858500" y="6419850"/>
            <a:ext cx="666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85714"/>
          </a:bodyPr>
          <a:lstStyle/>
          <a:p>
            <a:pPr>
              <a:defRPr sz="1050" b="0" i="0">
                <a:solidFill>
                  <a:srgbClr val="D5C4A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D5C4A0"/>
                </a:solidFill>
                <a:latin typeface="Arial"/>
                <a:ea typeface="Arial"/>
                <a:cs typeface="Arial"/>
              </a:rPr>
              <a:t>12 / 13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CF09ECD4-5CF2-4D95-8B3A-AD6F9C83B758}"/>
              </a:ext>
            </a:extLst>
          </p:cNvPr>
          <p:cNvSpPr>
            <a:spLocks noGrp="1"/>
          </p:cNvSpPr>
          <p:nvPr/>
        </p:nvSpPr>
        <p:spPr>
          <a:xfrm>
            <a:off x="666750" y="266700"/>
            <a:ext cx="2476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>
              <a:defRPr sz="1200" b="1" i="0">
                <a:solidFill>
                  <a:srgbClr val="D6A84D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D6A84D"/>
                </a:solidFill>
                <a:latin typeface="Arial"/>
                <a:ea typeface="Arial"/>
                <a:cs typeface="Arial"/>
              </a:rPr>
              <a:t>PFP COMPANION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06ACD03E-2AF9-43D6-93C6-FCC56B00FFC5}"/>
              </a:ext>
            </a:extLst>
          </p:cNvPr>
          <p:cNvSpPr>
            <a:spLocks noGrp="1"/>
          </p:cNvSpPr>
          <p:nvPr/>
        </p:nvSpPr>
        <p:spPr>
          <a:xfrm>
            <a:off x="666750" y="742950"/>
            <a:ext cx="74295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>
              <a:defRPr sz="3300" b="1" i="0">
                <a:solidFill>
                  <a:srgbClr val="FFF7E8"/>
                </a:solidFill>
                <a:latin typeface="Georgia"/>
                <a:ea typeface="Georgia"/>
                <a:cs typeface="Georgia"/>
              </a:defRPr>
            </a:pPr>
            <a:r>
              <a:rPr sz="3300" b="1" i="0">
                <a:solidFill>
                  <a:srgbClr val="FFF7E8"/>
                </a:solidFill>
                <a:latin typeface="Georgia"/>
                <a:ea typeface="Georgia"/>
                <a:cs typeface="Georgia"/>
              </a:rPr>
              <a:t>Качество и тестирование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C6B51ADD-6BAE-4C75-AC0E-A1BF56066207}"/>
              </a:ext>
            </a:extLst>
          </p:cNvPr>
          <p:cNvSpPr>
            <a:spLocks noGrp="1"/>
          </p:cNvSpPr>
          <p:nvPr/>
        </p:nvSpPr>
        <p:spPr>
          <a:xfrm>
            <a:off x="666750" y="1390650"/>
            <a:ext cx="8096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>
              <a:defRPr sz="1650" b="0" i="0">
                <a:solidFill>
                  <a:srgbClr val="D5C4A0"/>
                </a:solidFill>
                <a:latin typeface="Georgia"/>
                <a:ea typeface="Georgia"/>
                <a:cs typeface="Georgia"/>
              </a:defRPr>
            </a:pPr>
            <a:r>
              <a:rPr sz="1650" b="0" i="0">
                <a:solidFill>
                  <a:srgbClr val="D5C4A0"/>
                </a:solidFill>
                <a:latin typeface="Georgia"/>
                <a:ea typeface="Georgia"/>
                <a:cs typeface="Georgia"/>
              </a:rPr>
              <a:t>Покрытие, сборка и ручные сценарии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5BB83F8B-8962-4503-944C-A8B36484322B}"/>
              </a:ext>
            </a:extLst>
          </p:cNvPr>
          <p:cNvSpPr>
            <a:spLocks noGrp="1"/>
          </p:cNvSpPr>
          <p:nvPr/>
        </p:nvSpPr>
        <p:spPr>
          <a:xfrm>
            <a:off x="666750" y="1943100"/>
            <a:ext cx="10858500" cy="9525"/>
          </a:xfrm>
          <a:prstGeom prst="rect">
            <a:avLst/>
          </a:prstGeom>
          <a:solidFill>
            <a:srgbClr val="5A4522"/>
          </a:solidFill>
          <a:ln w="0">
            <a:solidFill>
              <a:srgbClr val="5A4522"/>
            </a:solidFill>
            <a:prstDash val="solid"/>
          </a:ln>
        </p:spPr>
      </p:sp>
      <p:pic>
        <p:nvPicPr>
          <p:cNvPr id="19" name="Рисунок 1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66750" y="2695575"/>
            <a:ext cx="5309142" cy="2085857"/>
          </a:xfrm>
          <a:prstGeom prst="rect">
            <a:avLst/>
          </a:prstGeom>
        </p:spPr>
      </p:pic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00269AC2-EEE6-432A-98F1-DA3C1B13618B}"/>
              </a:ext>
            </a:extLst>
          </p:cNvPr>
          <p:cNvSpPr>
            <a:spLocks noGrp="1"/>
          </p:cNvSpPr>
          <p:nvPr/>
        </p:nvSpPr>
        <p:spPr>
          <a:xfrm>
            <a:off x="6381750" y="2381250"/>
            <a:ext cx="2476500" cy="1143000"/>
          </a:xfrm>
          <a:prstGeom prst="rect">
            <a:avLst/>
          </a:prstGeom>
          <a:solidFill>
            <a:srgbClr val="11100C"/>
          </a:solidFill>
          <a:ln w="9525">
            <a:solidFill>
              <a:srgbClr val="5A4522"/>
            </a:solidFill>
            <a:prstDash val="solid"/>
          </a:ln>
        </p:spPr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BAAB9AA0-175A-4D9D-AD06-AD07CA292A39}"/>
              </a:ext>
            </a:extLst>
          </p:cNvPr>
          <p:cNvSpPr>
            <a:spLocks noGrp="1"/>
          </p:cNvSpPr>
          <p:nvPr/>
        </p:nvSpPr>
        <p:spPr>
          <a:xfrm>
            <a:off x="6610350" y="2571750"/>
            <a:ext cx="20193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97619"/>
          </a:bodyPr>
          <a:lstStyle/>
          <a:p>
            <a:pPr>
              <a:defRPr sz="1050" b="1" i="0">
                <a:solidFill>
                  <a:srgbClr val="D6A84D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D6A84D"/>
                </a:solidFill>
                <a:latin typeface="Arial"/>
                <a:ea typeface="Arial"/>
                <a:cs typeface="Arial"/>
              </a:rPr>
              <a:t>INSTRUCTION COVERAGE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BF6245D8-B313-451F-8056-0AE661AB6088}"/>
              </a:ext>
            </a:extLst>
          </p:cNvPr>
          <p:cNvSpPr>
            <a:spLocks noGrp="1"/>
          </p:cNvSpPr>
          <p:nvPr/>
        </p:nvSpPr>
        <p:spPr>
          <a:xfrm>
            <a:off x="6610350" y="2876550"/>
            <a:ext cx="20193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94118"/>
          </a:bodyPr>
          <a:lstStyle/>
          <a:p>
            <a:pPr>
              <a:defRPr sz="2550" b="1" i="0">
                <a:solidFill>
                  <a:srgbClr val="FFF7E8"/>
                </a:solidFill>
                <a:latin typeface="Georgia"/>
                <a:ea typeface="Georgia"/>
                <a:cs typeface="Georgia"/>
              </a:defRPr>
            </a:pPr>
            <a:r>
              <a:rPr sz="2550" b="1" i="0">
                <a:solidFill>
                  <a:srgbClr val="FFF7E8"/>
                </a:solidFill>
                <a:latin typeface="Georgia"/>
                <a:ea typeface="Georgia"/>
                <a:cs typeface="Georgia"/>
              </a:rPr>
              <a:t>63%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739D8E0E-1373-47C9-9AD3-C7562FF7A6D2}"/>
              </a:ext>
            </a:extLst>
          </p:cNvPr>
          <p:cNvSpPr>
            <a:spLocks noGrp="1"/>
          </p:cNvSpPr>
          <p:nvPr/>
        </p:nvSpPr>
        <p:spPr>
          <a:xfrm>
            <a:off x="9144000" y="2381250"/>
            <a:ext cx="2095500" cy="1143000"/>
          </a:xfrm>
          <a:prstGeom prst="rect">
            <a:avLst/>
          </a:prstGeom>
          <a:solidFill>
            <a:srgbClr val="11100C"/>
          </a:solidFill>
          <a:ln w="9525">
            <a:solidFill>
              <a:srgbClr val="5A4522"/>
            </a:solidFill>
            <a:prstDash val="solid"/>
          </a:ln>
        </p:spPr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C8A2AC7A-7292-49EF-B73C-994292B2EB70}"/>
              </a:ext>
            </a:extLst>
          </p:cNvPr>
          <p:cNvSpPr>
            <a:spLocks noGrp="1"/>
          </p:cNvSpPr>
          <p:nvPr/>
        </p:nvSpPr>
        <p:spPr>
          <a:xfrm>
            <a:off x="9372600" y="2571750"/>
            <a:ext cx="16383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97619"/>
          </a:bodyPr>
          <a:lstStyle/>
          <a:p>
            <a:pPr>
              <a:defRPr sz="1050" b="1" i="0">
                <a:solidFill>
                  <a:srgbClr val="D6A84D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D6A84D"/>
                </a:solidFill>
                <a:latin typeface="Arial"/>
                <a:ea typeface="Arial"/>
                <a:cs typeface="Arial"/>
              </a:rPr>
              <a:t>BRANCH COVERAGE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08A8B54D-9D9F-4189-AEB1-94296E5FFD65}"/>
              </a:ext>
            </a:extLst>
          </p:cNvPr>
          <p:cNvSpPr>
            <a:spLocks noGrp="1"/>
          </p:cNvSpPr>
          <p:nvPr/>
        </p:nvSpPr>
        <p:spPr>
          <a:xfrm>
            <a:off x="9372600" y="2876550"/>
            <a:ext cx="16383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94118"/>
          </a:bodyPr>
          <a:lstStyle/>
          <a:p>
            <a:pPr>
              <a:defRPr sz="2550" b="1" i="0">
                <a:solidFill>
                  <a:srgbClr val="FFF7E8"/>
                </a:solidFill>
                <a:latin typeface="Georgia"/>
                <a:ea typeface="Georgia"/>
                <a:cs typeface="Georgia"/>
              </a:defRPr>
            </a:pPr>
            <a:r>
              <a:rPr sz="2550" b="1" i="0">
                <a:solidFill>
                  <a:srgbClr val="FFF7E8"/>
                </a:solidFill>
                <a:latin typeface="Georgia"/>
                <a:ea typeface="Georgia"/>
                <a:cs typeface="Georgia"/>
              </a:rPr>
              <a:t>53%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EAAC01DB-6D86-4DD6-83D5-28CC94D29B5D}"/>
              </a:ext>
            </a:extLst>
          </p:cNvPr>
          <p:cNvSpPr>
            <a:spLocks noGrp="1"/>
          </p:cNvSpPr>
          <p:nvPr/>
        </p:nvSpPr>
        <p:spPr>
          <a:xfrm>
            <a:off x="6381750" y="3905250"/>
            <a:ext cx="4476750" cy="1123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>
              <a:defRPr sz="1350" b="0" i="0">
                <a:solidFill>
                  <a:srgbClr val="FFF7E8"/>
                </a:solidFill>
                <a:latin typeface="Arial"/>
                <a:ea typeface="Arial"/>
                <a:cs typeface="Arial"/>
              </a:defRPr>
            </a:pPr>
            <a:r>
              <a:rPr sz="1350" b="0" i="0" dirty="0">
                <a:solidFill>
                  <a:srgbClr val="FFF7E8"/>
                </a:solidFill>
                <a:latin typeface="Arial"/>
                <a:ea typeface="Arial"/>
                <a:cs typeface="Arial"/>
              </a:rPr>
              <a:t>• backend </a:t>
            </a:r>
            <a:r>
              <a:rPr lang="ru-RU" sz="1350" b="0" i="0" dirty="0">
                <a:solidFill>
                  <a:srgbClr val="FFF7E8"/>
                </a:solidFill>
                <a:latin typeface="Arial"/>
                <a:ea typeface="Arial"/>
                <a:cs typeface="Arial"/>
              </a:rPr>
              <a:t>тесты</a:t>
            </a:r>
            <a:r>
              <a:rPr sz="1350" b="0" i="0" dirty="0">
                <a:solidFill>
                  <a:srgbClr val="FFF7E8"/>
                </a:solidFill>
                <a:latin typeface="Arial"/>
                <a:ea typeface="Arial"/>
                <a:cs typeface="Arial"/>
              </a:rPr>
              <a:t>: JUnit 5, Mockito, </a:t>
            </a:r>
            <a:r>
              <a:rPr sz="1350" b="0" i="0" dirty="0" err="1">
                <a:solidFill>
                  <a:srgbClr val="FFF7E8"/>
                </a:solidFill>
                <a:latin typeface="Arial"/>
                <a:ea typeface="Arial"/>
                <a:cs typeface="Arial"/>
              </a:rPr>
              <a:t>Testcontainers</a:t>
            </a:r>
            <a:endParaRPr sz="1350" b="0" i="0" dirty="0">
              <a:solidFill>
                <a:srgbClr val="FFF7E8"/>
              </a:solidFill>
              <a:latin typeface="Arial"/>
              <a:ea typeface="Arial"/>
              <a:cs typeface="Arial"/>
            </a:endParaRPr>
          </a:p>
          <a:p>
            <a:pPr>
              <a:defRPr sz="1350" b="0" i="0">
                <a:solidFill>
                  <a:srgbClr val="FFF7E8"/>
                </a:solidFill>
                <a:latin typeface="Arial"/>
                <a:ea typeface="Arial"/>
                <a:cs typeface="Arial"/>
              </a:defRPr>
            </a:pPr>
            <a:r>
              <a:rPr sz="1350" b="0" i="0" dirty="0">
                <a:solidFill>
                  <a:srgbClr val="FFF7E8"/>
                </a:solidFill>
                <a:latin typeface="Arial"/>
                <a:ea typeface="Arial"/>
                <a:cs typeface="Arial"/>
              </a:rPr>
              <a:t>• desktop </a:t>
            </a:r>
            <a:r>
              <a:rPr lang="ru-RU" sz="1350" dirty="0">
                <a:solidFill>
                  <a:srgbClr val="FFF7E8"/>
                </a:solidFill>
                <a:latin typeface="Arial"/>
                <a:ea typeface="Arial"/>
                <a:cs typeface="Arial"/>
              </a:rPr>
              <a:t>тесты</a:t>
            </a:r>
            <a:r>
              <a:rPr sz="1350" b="0" i="0" dirty="0">
                <a:solidFill>
                  <a:srgbClr val="FFF7E8"/>
                </a:solidFill>
                <a:latin typeface="Arial"/>
                <a:ea typeface="Arial"/>
                <a:cs typeface="Arial"/>
              </a:rPr>
              <a:t>: JSON, session, content, API client</a:t>
            </a:r>
          </a:p>
          <a:p>
            <a:pPr>
              <a:defRPr sz="1350" b="0" i="0">
                <a:solidFill>
                  <a:srgbClr val="FFF7E8"/>
                </a:solidFill>
                <a:latin typeface="Arial"/>
                <a:ea typeface="Arial"/>
                <a:cs typeface="Arial"/>
              </a:defRPr>
            </a:pPr>
            <a:r>
              <a:rPr sz="1350" b="0" i="0" dirty="0">
                <a:solidFill>
                  <a:srgbClr val="FFF7E8"/>
                </a:solidFill>
                <a:latin typeface="Arial"/>
                <a:ea typeface="Arial"/>
                <a:cs typeface="Arial"/>
              </a:rPr>
              <a:t>• web build и lint</a:t>
            </a:r>
          </a:p>
          <a:p>
            <a:pPr>
              <a:defRPr sz="1350" b="0" i="0">
                <a:solidFill>
                  <a:srgbClr val="FFF7E8"/>
                </a:solidFill>
                <a:latin typeface="Arial"/>
                <a:ea typeface="Arial"/>
                <a:cs typeface="Arial"/>
              </a:defRPr>
            </a:pPr>
            <a:r>
              <a:rPr sz="1350" b="0" i="0" dirty="0">
                <a:solidFill>
                  <a:srgbClr val="FFF7E8"/>
                </a:solidFill>
                <a:latin typeface="Arial"/>
                <a:ea typeface="Arial"/>
                <a:cs typeface="Arial"/>
              </a:rPr>
              <a:t>• </a:t>
            </a:r>
            <a:r>
              <a:rPr sz="1350" b="0" i="0" dirty="0" err="1">
                <a:solidFill>
                  <a:srgbClr val="FFF7E8"/>
                </a:solidFill>
                <a:latin typeface="Arial"/>
                <a:ea typeface="Arial"/>
                <a:cs typeface="Arial"/>
              </a:rPr>
              <a:t>ручные</a:t>
            </a:r>
            <a:r>
              <a:rPr sz="1350" b="0" i="0" dirty="0">
                <a:solidFill>
                  <a:srgbClr val="FFF7E8"/>
                </a:solidFill>
                <a:latin typeface="Arial"/>
                <a:ea typeface="Arial"/>
                <a:cs typeface="Arial"/>
              </a:rPr>
              <a:t> </a:t>
            </a:r>
            <a:r>
              <a:rPr sz="1350" b="0" i="0" dirty="0" err="1">
                <a:solidFill>
                  <a:srgbClr val="FFF7E8"/>
                </a:solidFill>
                <a:latin typeface="Arial"/>
                <a:ea typeface="Arial"/>
                <a:cs typeface="Arial"/>
              </a:rPr>
              <a:t>проверки</a:t>
            </a:r>
            <a:r>
              <a:rPr sz="1350" b="0" i="0" dirty="0">
                <a:solidFill>
                  <a:srgbClr val="FFF7E8"/>
                </a:solidFill>
                <a:latin typeface="Arial"/>
                <a:ea typeface="Arial"/>
                <a:cs typeface="Arial"/>
              </a:rPr>
              <a:t> OAuth2, </a:t>
            </a:r>
            <a:r>
              <a:rPr sz="1350" b="0" i="0" dirty="0" err="1">
                <a:solidFill>
                  <a:srgbClr val="FFF7E8"/>
                </a:solidFill>
                <a:latin typeface="Arial"/>
                <a:ea typeface="Arial"/>
                <a:cs typeface="Arial"/>
              </a:rPr>
              <a:t>Mailpit</a:t>
            </a:r>
            <a:r>
              <a:rPr sz="1350" b="0" i="0" dirty="0">
                <a:solidFill>
                  <a:srgbClr val="FFF7E8"/>
                </a:solidFill>
                <a:latin typeface="Arial"/>
                <a:ea typeface="Arial"/>
                <a:cs typeface="Arial"/>
              </a:rPr>
              <a:t>, sync, JSON import/export</a:t>
            </a:r>
          </a:p>
        </p:txBody>
      </p:sp>
    </p:spTree>
    <p:extLst>
      <p:ext uri="{BB962C8B-B14F-4D97-AF65-F5344CB8AC3E}">
        <p14:creationId xmlns:p14="http://schemas.microsoft.com/office/powerpoint/2010/main" val="9696243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6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8BF71A66-B568-4C11-A9AB-853EFF2670FB}"/>
              </a:ext>
            </a:extLst>
          </p:cNvPr>
          <p:cNvSpPr>
            <a:spLocks noGrp="1"/>
          </p:cNvSpPr>
          <p:nvPr/>
        </p:nvSpPr>
        <p:spPr>
          <a:xfrm>
            <a:off x="10858500" y="6419850"/>
            <a:ext cx="666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85714"/>
          </a:bodyPr>
          <a:lstStyle/>
          <a:p>
            <a:pPr>
              <a:defRPr sz="1050" b="0" i="0">
                <a:solidFill>
                  <a:srgbClr val="D5C4A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D5C4A0"/>
                </a:solidFill>
                <a:latin typeface="Arial"/>
                <a:ea typeface="Arial"/>
                <a:cs typeface="Arial"/>
              </a:rPr>
              <a:t>13 / 13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070D6F66-EF5C-4D9E-B458-7800EA52E8F4}"/>
              </a:ext>
            </a:extLst>
          </p:cNvPr>
          <p:cNvSpPr>
            <a:spLocks noGrp="1"/>
          </p:cNvSpPr>
          <p:nvPr/>
        </p:nvSpPr>
        <p:spPr>
          <a:xfrm>
            <a:off x="666750" y="266700"/>
            <a:ext cx="2476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>
              <a:defRPr sz="1200" b="1" i="0">
                <a:solidFill>
                  <a:srgbClr val="D6A84D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D6A84D"/>
                </a:solidFill>
                <a:latin typeface="Arial"/>
                <a:ea typeface="Arial"/>
                <a:cs typeface="Arial"/>
              </a:rPr>
              <a:t>PFP COMPANION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F41A3716-24FE-4ACA-88AF-177A1EBC3016}"/>
              </a:ext>
            </a:extLst>
          </p:cNvPr>
          <p:cNvSpPr>
            <a:spLocks noGrp="1"/>
          </p:cNvSpPr>
          <p:nvPr/>
        </p:nvSpPr>
        <p:spPr>
          <a:xfrm>
            <a:off x="666750" y="742950"/>
            <a:ext cx="74295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>
              <a:defRPr sz="3300" b="1" i="0">
                <a:solidFill>
                  <a:srgbClr val="FFF7E8"/>
                </a:solidFill>
                <a:latin typeface="Georgia"/>
                <a:ea typeface="Georgia"/>
                <a:cs typeface="Georgia"/>
              </a:defRPr>
            </a:pPr>
            <a:r>
              <a:rPr sz="3300" b="1" i="0">
                <a:solidFill>
                  <a:srgbClr val="FFF7E8"/>
                </a:solidFill>
                <a:latin typeface="Georgia"/>
                <a:ea typeface="Georgia"/>
                <a:cs typeface="Georgia"/>
              </a:rPr>
              <a:t>Итоги и развитие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753C7981-7B0F-453D-8B3B-C3B9AB4E9610}"/>
              </a:ext>
            </a:extLst>
          </p:cNvPr>
          <p:cNvSpPr>
            <a:spLocks noGrp="1"/>
          </p:cNvSpPr>
          <p:nvPr/>
        </p:nvSpPr>
        <p:spPr>
          <a:xfrm>
            <a:off x="666750" y="1390650"/>
            <a:ext cx="8096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>
              <a:defRPr sz="1650" b="0" i="0">
                <a:solidFill>
                  <a:srgbClr val="D5C4A0"/>
                </a:solidFill>
                <a:latin typeface="Georgia"/>
                <a:ea typeface="Georgia"/>
                <a:cs typeface="Georgia"/>
              </a:defRPr>
            </a:pPr>
            <a:r>
              <a:rPr sz="1650" b="0" i="0">
                <a:solidFill>
                  <a:srgbClr val="D5C4A0"/>
                </a:solidFill>
                <a:latin typeface="Georgia"/>
                <a:ea typeface="Georgia"/>
                <a:cs typeface="Georgia"/>
              </a:rPr>
              <a:t>Проект закрыт на MVP+ и готов к демонстрации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4FBB2EF7-880E-457E-913A-E155F07BB99E}"/>
              </a:ext>
            </a:extLst>
          </p:cNvPr>
          <p:cNvSpPr>
            <a:spLocks noGrp="1"/>
          </p:cNvSpPr>
          <p:nvPr/>
        </p:nvSpPr>
        <p:spPr>
          <a:xfrm>
            <a:off x="666750" y="1943100"/>
            <a:ext cx="10858500" cy="9525"/>
          </a:xfrm>
          <a:prstGeom prst="rect">
            <a:avLst/>
          </a:prstGeom>
          <a:solidFill>
            <a:srgbClr val="5A4522"/>
          </a:solidFill>
          <a:ln w="0">
            <a:solidFill>
              <a:srgbClr val="5A4522"/>
            </a:solidFill>
            <a:prstDash val="solid"/>
          </a:ln>
        </p:spPr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E7CE8D19-F90A-4D84-9789-5760B728B7DC}"/>
              </a:ext>
            </a:extLst>
          </p:cNvPr>
          <p:cNvSpPr>
            <a:spLocks noGrp="1"/>
          </p:cNvSpPr>
          <p:nvPr/>
        </p:nvSpPr>
        <p:spPr>
          <a:xfrm>
            <a:off x="666750" y="2286000"/>
            <a:ext cx="4953000" cy="2667000"/>
          </a:xfrm>
          <a:prstGeom prst="rect">
            <a:avLst/>
          </a:prstGeom>
          <a:solidFill>
            <a:srgbClr val="11100C"/>
          </a:solidFill>
          <a:ln w="9525">
            <a:solidFill>
              <a:srgbClr val="5A4522"/>
            </a:solidFill>
            <a:prstDash val="solid"/>
          </a:ln>
        </p:spPr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A5DF7759-FBE9-4A74-8D37-4D7982C6BE41}"/>
              </a:ext>
            </a:extLst>
          </p:cNvPr>
          <p:cNvSpPr>
            <a:spLocks noGrp="1"/>
          </p:cNvSpPr>
          <p:nvPr/>
        </p:nvSpPr>
        <p:spPr>
          <a:xfrm>
            <a:off x="952500" y="2590800"/>
            <a:ext cx="4286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73333"/>
          </a:bodyPr>
          <a:lstStyle/>
          <a:p>
            <a:pPr>
              <a:defRPr sz="2250" b="1" i="0">
                <a:solidFill>
                  <a:srgbClr val="FFF7E8"/>
                </a:solidFill>
                <a:latin typeface="Georgia"/>
                <a:ea typeface="Georgia"/>
                <a:cs typeface="Georgia"/>
              </a:defRPr>
            </a:pPr>
            <a:r>
              <a:rPr sz="2250" b="1" i="0">
                <a:solidFill>
                  <a:srgbClr val="FFF7E8"/>
                </a:solidFill>
                <a:latin typeface="Georgia"/>
                <a:ea typeface="Georgia"/>
                <a:cs typeface="Georgia"/>
              </a:rPr>
              <a:t>Результат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F1A6579E-96E6-46C3-95C4-F0A4438CBAA0}"/>
              </a:ext>
            </a:extLst>
          </p:cNvPr>
          <p:cNvSpPr>
            <a:spLocks noGrp="1"/>
          </p:cNvSpPr>
          <p:nvPr/>
        </p:nvSpPr>
        <p:spPr>
          <a:xfrm>
            <a:off x="952500" y="3143250"/>
            <a:ext cx="4095750" cy="1333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>
              <a:defRPr sz="1425" b="0" i="0">
                <a:solidFill>
                  <a:srgbClr val="FFF7E8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FFF7E8"/>
                </a:solidFill>
                <a:latin typeface="Arial"/>
                <a:ea typeface="Arial"/>
                <a:cs typeface="Arial"/>
              </a:rPr>
              <a:t>• web + backend + desktop</a:t>
            </a:r>
          </a:p>
          <a:p>
            <a:pPr>
              <a:defRPr sz="1425" b="0" i="0">
                <a:solidFill>
                  <a:srgbClr val="FFF7E8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FFF7E8"/>
                </a:solidFill>
                <a:latin typeface="Arial"/>
                <a:ea typeface="Arial"/>
                <a:cs typeface="Arial"/>
              </a:rPr>
              <a:t>• синхронизация персонажей</a:t>
            </a:r>
          </a:p>
          <a:p>
            <a:pPr>
              <a:defRPr sz="1425" b="0" i="0">
                <a:solidFill>
                  <a:srgbClr val="FFF7E8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FFF7E8"/>
                </a:solidFill>
                <a:latin typeface="Arial"/>
                <a:ea typeface="Arial"/>
                <a:cs typeface="Arial"/>
              </a:rPr>
              <a:t>• локальный desktop-режим</a:t>
            </a:r>
          </a:p>
          <a:p>
            <a:pPr>
              <a:defRPr sz="1425" b="0" i="0">
                <a:solidFill>
                  <a:srgbClr val="FFF7E8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FFF7E8"/>
                </a:solidFill>
                <a:latin typeface="Arial"/>
                <a:ea typeface="Arial"/>
                <a:cs typeface="Arial"/>
              </a:rPr>
              <a:t>• админский контур</a:t>
            </a:r>
          </a:p>
          <a:p>
            <a:pPr>
              <a:defRPr sz="1425" b="0" i="0">
                <a:solidFill>
                  <a:srgbClr val="FFF7E8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FFF7E8"/>
                </a:solidFill>
                <a:latin typeface="Arial"/>
                <a:ea typeface="Arial"/>
                <a:cs typeface="Arial"/>
              </a:rPr>
              <a:t>• сборка desktop app image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92704EC7-32EA-4C39-B373-FBAF1B52147A}"/>
              </a:ext>
            </a:extLst>
          </p:cNvPr>
          <p:cNvSpPr>
            <a:spLocks noGrp="1"/>
          </p:cNvSpPr>
          <p:nvPr/>
        </p:nvSpPr>
        <p:spPr>
          <a:xfrm>
            <a:off x="6286500" y="2286000"/>
            <a:ext cx="4953000" cy="2667000"/>
          </a:xfrm>
          <a:prstGeom prst="rect">
            <a:avLst/>
          </a:prstGeom>
          <a:solidFill>
            <a:srgbClr val="201D15"/>
          </a:solidFill>
          <a:ln w="9525">
            <a:solidFill>
              <a:srgbClr val="5A4522"/>
            </a:solidFill>
            <a:prstDash val="solid"/>
          </a:ln>
        </p:spPr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DE3A04C9-C762-4ED0-89D0-013F3344A2DA}"/>
              </a:ext>
            </a:extLst>
          </p:cNvPr>
          <p:cNvSpPr>
            <a:spLocks noGrp="1"/>
          </p:cNvSpPr>
          <p:nvPr/>
        </p:nvSpPr>
        <p:spPr>
          <a:xfrm>
            <a:off x="6572250" y="2590800"/>
            <a:ext cx="4286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73333"/>
          </a:bodyPr>
          <a:lstStyle/>
          <a:p>
            <a:pPr>
              <a:defRPr sz="2250" b="1" i="0">
                <a:solidFill>
                  <a:srgbClr val="FFF7E8"/>
                </a:solidFill>
                <a:latin typeface="Georgia"/>
                <a:ea typeface="Georgia"/>
                <a:cs typeface="Georgia"/>
              </a:defRPr>
            </a:pPr>
            <a:r>
              <a:rPr sz="2250" b="1" i="0">
                <a:solidFill>
                  <a:srgbClr val="FFF7E8"/>
                </a:solidFill>
                <a:latin typeface="Georgia"/>
                <a:ea typeface="Georgia"/>
                <a:cs typeface="Georgia"/>
              </a:rPr>
              <a:t>Следующие шаги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82201C17-CF91-4541-BAE8-257E136C2BB7}"/>
              </a:ext>
            </a:extLst>
          </p:cNvPr>
          <p:cNvSpPr>
            <a:spLocks noGrp="1"/>
          </p:cNvSpPr>
          <p:nvPr/>
        </p:nvSpPr>
        <p:spPr>
          <a:xfrm>
            <a:off x="6572250" y="3143250"/>
            <a:ext cx="4095750" cy="1333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>
              <a:defRPr sz="1425" b="0" i="0">
                <a:solidFill>
                  <a:srgbClr val="FFF7E8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FFF7E8"/>
                </a:solidFill>
                <a:latin typeface="Arial"/>
                <a:ea typeface="Arial"/>
                <a:cs typeface="Arial"/>
              </a:rPr>
              <a:t>• production SMTP</a:t>
            </a:r>
          </a:p>
          <a:p>
            <a:pPr>
              <a:defRPr sz="1425" b="0" i="0">
                <a:solidFill>
                  <a:srgbClr val="FFF7E8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FFF7E8"/>
                </a:solidFill>
                <a:latin typeface="Arial"/>
                <a:ea typeface="Arial"/>
                <a:cs typeface="Arial"/>
              </a:rPr>
              <a:t>• удобное назначение администраторов</a:t>
            </a:r>
          </a:p>
          <a:p>
            <a:pPr>
              <a:defRPr sz="1425" b="0" i="0">
                <a:solidFill>
                  <a:srgbClr val="FFF7E8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FFF7E8"/>
                </a:solidFill>
                <a:latin typeface="Arial"/>
                <a:ea typeface="Arial"/>
                <a:cs typeface="Arial"/>
              </a:rPr>
              <a:t>• rate limiting публичных endpoint-ов</a:t>
            </a:r>
          </a:p>
          <a:p>
            <a:pPr>
              <a:defRPr sz="1425" b="0" i="0">
                <a:solidFill>
                  <a:srgbClr val="FFF7E8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FFF7E8"/>
                </a:solidFill>
                <a:latin typeface="Arial"/>
                <a:ea typeface="Arial"/>
                <a:cs typeface="Arial"/>
              </a:rPr>
              <a:t>• CI/CD</a:t>
            </a:r>
          </a:p>
          <a:p>
            <a:pPr>
              <a:defRPr sz="1425" b="0" i="0">
                <a:solidFill>
                  <a:srgbClr val="FFF7E8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FFF7E8"/>
                </a:solidFill>
                <a:latin typeface="Arial"/>
                <a:ea typeface="Arial"/>
                <a:cs typeface="Arial"/>
              </a:rPr>
              <a:t>• подписанный Windows-установщик</a:t>
            </a:r>
          </a:p>
        </p:txBody>
      </p:sp>
    </p:spTree>
    <p:extLst>
      <p:ext uri="{BB962C8B-B14F-4D97-AF65-F5344CB8AC3E}">
        <p14:creationId xmlns:p14="http://schemas.microsoft.com/office/powerpoint/2010/main" val="33680063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711</Words>
  <Application>Microsoft Office PowerPoint</Application>
  <DocSecurity>0</DocSecurity>
  <PresentationFormat>Широкоэкранный</PresentationFormat>
  <Paragraphs>159</Paragraphs>
  <Slides>13</Slides>
  <Notes>13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7" baseType="lpstr">
      <vt:lpstr>Arial</vt:lpstr>
      <vt:lpstr>Calibri</vt:lpstr>
      <vt:lpstr>Georgia</vt:lpstr>
      <vt:lpstr>ChatGPT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Пользователь</cp:lastModifiedBy>
  <cp:revision>2</cp:revision>
  <dcterms:created xsi:type="dcterms:W3CDTF">2026-06-21T12:58:09Z</dcterms:created>
  <dcterms:modified xsi:type="dcterms:W3CDTF">2026-06-21T14:58:52Z</dcterms:modified>
</cp:coreProperties>
</file>